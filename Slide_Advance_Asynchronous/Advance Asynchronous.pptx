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7" r:id="rId5"/>
    <p:sldId id="268" r:id="rId6"/>
    <p:sldId id="270" r:id="rId7"/>
    <p:sldId id="271" r:id="rId8"/>
    <p:sldId id="266" r:id="rId9"/>
    <p:sldId id="259" r:id="rId10"/>
    <p:sldId id="272" r:id="rId11"/>
    <p:sldId id="260" r:id="rId12"/>
    <p:sldId id="261"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95" autoAdjust="0"/>
    <p:restoredTop sz="64684" autoAdjust="0"/>
  </p:normalViewPr>
  <p:slideViewPr>
    <p:cSldViewPr snapToGrid="0">
      <p:cViewPr varScale="1">
        <p:scale>
          <a:sx n="58" d="100"/>
          <a:sy n="58" d="100"/>
        </p:scale>
        <p:origin x="108" y="282"/>
      </p:cViewPr>
      <p:guideLst/>
    </p:cSldViewPr>
  </p:slideViewPr>
  <p:notesTextViewPr>
    <p:cViewPr>
      <p:scale>
        <a:sx n="1" d="1"/>
        <a:sy n="1" d="1"/>
      </p:scale>
      <p:origin x="0" y="-303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E4FB07-7023-438D-BBA7-5D06A580E5A8}"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FF826-09D7-4BFB-A6F2-AAC85BBDF987}" type="slidenum">
              <a:rPr lang="en-US" smtClean="0"/>
              <a:t>‹#›</a:t>
            </a:fld>
            <a:endParaRPr lang="en-US"/>
          </a:p>
        </p:txBody>
      </p:sp>
    </p:spTree>
    <p:extLst>
      <p:ext uri="{BB962C8B-B14F-4D97-AF65-F5344CB8AC3E}">
        <p14:creationId xmlns:p14="http://schemas.microsoft.com/office/powerpoint/2010/main" val="2433385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learn.microsoft.com/fr-fr/dotnet/csharp/asynchronous-programming/async-return-types?utm_source=chatgpt.com" TargetMode="External"/><Relationship Id="rId3" Type="http://schemas.openxmlformats.org/officeDocument/2006/relationships/hyperlink" Target="https://learn.microsoft.com/en-us/dotnet/api/system.threading.tasks.task" TargetMode="External"/><Relationship Id="rId7" Type="http://schemas.openxmlformats.org/officeDocument/2006/relationships/hyperlink" Target="https://learn.microsoft.com/en-us/dotnet/csharp/asynchronous-programming/async-return-types?utm_source=chatgpt.com"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learn.microsoft.com/en-us/dotnet/api/system.collections.generic.iasyncenumerable-1" TargetMode="External"/><Relationship Id="rId5" Type="http://schemas.openxmlformats.org/officeDocument/2006/relationships/hyperlink" Target="https://learn.microsoft.com/en-us/dotnet/api/system.runtime.compilerservices.icriticalnotifycompletion" TargetMode="External"/><Relationship Id="rId4" Type="http://schemas.openxmlformats.org/officeDocument/2006/relationships/hyperlink" Target="https://learn.microsoft.com/en-us/dotnet/api/system.threading.tasks.task-1" TargetMode="External"/><Relationship Id="rId9" Type="http://schemas.openxmlformats.org/officeDocument/2006/relationships/hyperlink" Target="https://learn.microsoft.com/en-us/dotnet/csharp/asynchronous-programming/task-asynchronous-programming-model?utm_source=chatgpt.com"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dirty="0" err="1"/>
              <a:t>Chào</a:t>
            </a:r>
            <a:r>
              <a:rPr lang="en-US" b="1" dirty="0"/>
              <a:t> </a:t>
            </a:r>
            <a:r>
              <a:rPr lang="en-US" b="1" dirty="0" err="1"/>
              <a:t>mừng</a:t>
            </a:r>
            <a:r>
              <a:rPr lang="en-US" dirty="0"/>
              <a:t> </a:t>
            </a:r>
            <a:r>
              <a:rPr lang="en-US" dirty="0" err="1"/>
              <a:t>mọi</a:t>
            </a:r>
            <a:r>
              <a:rPr lang="en-US" dirty="0"/>
              <a:t> </a:t>
            </a:r>
            <a:r>
              <a:rPr lang="en-US" dirty="0" err="1"/>
              <a:t>người</a:t>
            </a:r>
            <a:r>
              <a:rPr lang="en-US" dirty="0"/>
              <a:t> </a:t>
            </a:r>
            <a:r>
              <a:rPr lang="en-US" dirty="0" err="1"/>
              <a:t>đến</a:t>
            </a:r>
            <a:r>
              <a:rPr lang="en-US" dirty="0"/>
              <a:t> </a:t>
            </a:r>
            <a:r>
              <a:rPr lang="en-US" dirty="0" err="1"/>
              <a:t>với</a:t>
            </a:r>
            <a:r>
              <a:rPr lang="en-US" dirty="0"/>
              <a:t> </a:t>
            </a:r>
            <a:r>
              <a:rPr lang="en-US" dirty="0" err="1"/>
              <a:t>bài</a:t>
            </a:r>
            <a:r>
              <a:rPr lang="en-US" dirty="0"/>
              <a:t> </a:t>
            </a:r>
            <a:r>
              <a:rPr lang="en-US" dirty="0" err="1"/>
              <a:t>thuyết</a:t>
            </a:r>
            <a:r>
              <a:rPr lang="en-US" dirty="0"/>
              <a:t> </a:t>
            </a:r>
            <a:r>
              <a:rPr lang="en-US" dirty="0" err="1"/>
              <a:t>trình</a:t>
            </a:r>
            <a:r>
              <a:rPr lang="en-US" dirty="0"/>
              <a:t> </a:t>
            </a:r>
            <a:r>
              <a:rPr lang="en-US" dirty="0" err="1"/>
              <a:t>của</a:t>
            </a:r>
            <a:r>
              <a:rPr lang="en-US" dirty="0"/>
              <a:t> </a:t>
            </a:r>
            <a:r>
              <a:rPr lang="en-US" dirty="0" err="1"/>
              <a:t>nhóm</a:t>
            </a:r>
            <a:r>
              <a:rPr lang="en-US" dirty="0"/>
              <a:t> </a:t>
            </a:r>
            <a:r>
              <a:rPr lang="en-US" dirty="0" err="1"/>
              <a:t>em</a:t>
            </a:r>
            <a:r>
              <a:rPr lang="en-US" dirty="0"/>
              <a:t> </a:t>
            </a:r>
            <a:r>
              <a:rPr lang="en-US" dirty="0" err="1"/>
              <a:t>với</a:t>
            </a:r>
            <a:r>
              <a:rPr lang="en-US" dirty="0"/>
              <a:t> </a:t>
            </a:r>
            <a:r>
              <a:rPr lang="en-US" b="1" dirty="0" err="1"/>
              <a:t>chủ</a:t>
            </a:r>
            <a:r>
              <a:rPr lang="en-US" b="1" dirty="0"/>
              <a:t> </a:t>
            </a:r>
            <a:r>
              <a:rPr lang="en-US" b="1" dirty="0" err="1"/>
              <a:t>đề</a:t>
            </a:r>
            <a:r>
              <a:rPr lang="en-US" b="1" dirty="0"/>
              <a:t>: Advance Asynchronous</a:t>
            </a:r>
            <a:r>
              <a:rPr lang="en-US" dirty="0"/>
              <a:t>. </a:t>
            </a:r>
            <a:r>
              <a:rPr lang="en-US" dirty="0" err="1"/>
              <a:t>Nhóm</a:t>
            </a:r>
            <a:r>
              <a:rPr lang="en-US" dirty="0"/>
              <a:t> </a:t>
            </a:r>
            <a:r>
              <a:rPr lang="en-US" dirty="0" err="1"/>
              <a:t>em</a:t>
            </a:r>
            <a:r>
              <a:rPr lang="en-US" dirty="0"/>
              <a:t> </a:t>
            </a:r>
            <a:r>
              <a:rPr lang="en-US" dirty="0" err="1"/>
              <a:t>gồm</a:t>
            </a:r>
            <a:r>
              <a:rPr lang="en-US" dirty="0"/>
              <a:t> </a:t>
            </a:r>
            <a:r>
              <a:rPr lang="en-US" dirty="0" err="1"/>
              <a:t>các</a:t>
            </a:r>
            <a:r>
              <a:rPr lang="en-US" dirty="0"/>
              <a:t> </a:t>
            </a:r>
            <a:r>
              <a:rPr lang="en-US" dirty="0" err="1"/>
              <a:t>thành</a:t>
            </a:r>
            <a:r>
              <a:rPr lang="en-US" dirty="0"/>
              <a:t> </a:t>
            </a:r>
            <a:r>
              <a:rPr lang="en-US" dirty="0" err="1"/>
              <a:t>viên</a:t>
            </a:r>
            <a:r>
              <a:rPr lang="en-US" dirty="0"/>
              <a:t>…</a:t>
            </a:r>
          </a:p>
          <a:p>
            <a:pPr marL="171450" indent="-171450">
              <a:buFontTx/>
              <a:buChar char="-"/>
            </a:pPr>
            <a:endParaRPr lang="en-US" dirty="0"/>
          </a:p>
          <a:p>
            <a:pPr marL="171450" indent="-171450">
              <a:buFontTx/>
              <a:buChar char="-"/>
            </a:pPr>
            <a:r>
              <a:rPr lang="en-US" dirty="0" err="1"/>
              <a:t>Chúng</a:t>
            </a:r>
            <a:r>
              <a:rPr lang="en-US" dirty="0"/>
              <a:t> ta </a:t>
            </a:r>
            <a:r>
              <a:rPr lang="en-US" dirty="0" err="1"/>
              <a:t>là</a:t>
            </a:r>
            <a:r>
              <a:rPr lang="en-US" dirty="0"/>
              <a:t> </a:t>
            </a:r>
            <a:r>
              <a:rPr lang="en-US" dirty="0" err="1"/>
              <a:t>những</a:t>
            </a:r>
            <a:r>
              <a:rPr lang="en-US" dirty="0"/>
              <a:t> </a:t>
            </a:r>
            <a:r>
              <a:rPr lang="en-US" dirty="0" err="1"/>
              <a:t>lập</a:t>
            </a:r>
            <a:r>
              <a:rPr lang="en-US" dirty="0"/>
              <a:t> </a:t>
            </a:r>
            <a:r>
              <a:rPr lang="en-US" dirty="0" err="1"/>
              <a:t>trình</a:t>
            </a:r>
            <a:r>
              <a:rPr lang="en-US" dirty="0"/>
              <a:t> </a:t>
            </a:r>
            <a:r>
              <a:rPr lang="en-US" dirty="0" err="1"/>
              <a:t>viên</a:t>
            </a:r>
            <a:r>
              <a:rPr lang="en-US" dirty="0"/>
              <a:t> </a:t>
            </a:r>
            <a:r>
              <a:rPr lang="en-US" dirty="0" err="1"/>
              <a:t>về</a:t>
            </a:r>
            <a:r>
              <a:rPr lang="en-US" dirty="0"/>
              <a:t> windows app, </a:t>
            </a:r>
            <a:r>
              <a:rPr lang="en-US" dirty="0" err="1"/>
              <a:t>trong</a:t>
            </a:r>
            <a:r>
              <a:rPr lang="en-US" dirty="0"/>
              <a:t> </a:t>
            </a:r>
            <a:r>
              <a:rPr lang="en-US" b="1" dirty="0" err="1"/>
              <a:t>những</a:t>
            </a:r>
            <a:r>
              <a:rPr lang="en-US" b="1" dirty="0"/>
              <a:t> </a:t>
            </a:r>
            <a:r>
              <a:rPr lang="en-US" b="1" dirty="0" err="1"/>
              <a:t>dự</a:t>
            </a:r>
            <a:r>
              <a:rPr lang="en-US" b="1" dirty="0"/>
              <a:t> </a:t>
            </a:r>
            <a:r>
              <a:rPr lang="en-US" b="1" dirty="0" err="1"/>
              <a:t>án</a:t>
            </a:r>
            <a:r>
              <a:rPr lang="en-US" dirty="0"/>
              <a:t> </a:t>
            </a:r>
            <a:r>
              <a:rPr lang="en-US" dirty="0" err="1"/>
              <a:t>của</a:t>
            </a:r>
            <a:r>
              <a:rPr lang="en-US" dirty="0"/>
              <a:t> </a:t>
            </a:r>
            <a:r>
              <a:rPr lang="en-US" dirty="0" err="1"/>
              <a:t>mn</a:t>
            </a:r>
            <a:r>
              <a:rPr lang="en-US" dirty="0"/>
              <a:t> </a:t>
            </a:r>
            <a:r>
              <a:rPr lang="en-US" dirty="0" err="1"/>
              <a:t>chắc</a:t>
            </a:r>
            <a:r>
              <a:rPr lang="en-US" dirty="0"/>
              <a:t> </a:t>
            </a:r>
            <a:r>
              <a:rPr lang="en-US" dirty="0" err="1"/>
              <a:t>không</a:t>
            </a:r>
            <a:r>
              <a:rPr lang="en-US" dirty="0"/>
              <a:t> </a:t>
            </a:r>
            <a:r>
              <a:rPr lang="en-US" dirty="0" err="1"/>
              <a:t>ít</a:t>
            </a:r>
            <a:r>
              <a:rPr lang="en-US" dirty="0"/>
              <a:t> </a:t>
            </a:r>
            <a:r>
              <a:rPr lang="en-US" dirty="0" err="1"/>
              <a:t>thì</a:t>
            </a:r>
            <a:r>
              <a:rPr lang="en-US" dirty="0"/>
              <a:t> </a:t>
            </a:r>
            <a:r>
              <a:rPr lang="en-US" dirty="0" err="1"/>
              <a:t>nhiều</a:t>
            </a:r>
            <a:r>
              <a:rPr lang="en-US" dirty="0"/>
              <a:t> </a:t>
            </a:r>
            <a:r>
              <a:rPr lang="en-US" dirty="0" err="1"/>
              <a:t>đã</a:t>
            </a:r>
            <a:r>
              <a:rPr lang="en-US" dirty="0"/>
              <a:t> </a:t>
            </a:r>
            <a:r>
              <a:rPr lang="en-US" b="1" dirty="0" err="1"/>
              <a:t>gặp</a:t>
            </a:r>
            <a:r>
              <a:rPr lang="en-US" b="1" dirty="0"/>
              <a:t> </a:t>
            </a:r>
            <a:r>
              <a:rPr lang="en-US" b="1" dirty="0" err="1"/>
              <a:t>những</a:t>
            </a:r>
            <a:r>
              <a:rPr lang="en-US" b="1" dirty="0"/>
              <a:t> </a:t>
            </a:r>
            <a:r>
              <a:rPr lang="en-US" b="1" dirty="0" err="1"/>
              <a:t>hàm</a:t>
            </a:r>
            <a:r>
              <a:rPr lang="en-US" b="1" dirty="0"/>
              <a:t> </a:t>
            </a:r>
            <a:r>
              <a:rPr lang="en-US" b="1" dirty="0" err="1"/>
              <a:t>bất</a:t>
            </a:r>
            <a:r>
              <a:rPr lang="en-US" b="1" dirty="0"/>
              <a:t> </a:t>
            </a:r>
            <a:r>
              <a:rPr lang="en-US" b="1" dirty="0" err="1"/>
              <a:t>đồng</a:t>
            </a:r>
            <a:r>
              <a:rPr lang="en-US" b="1" dirty="0"/>
              <a:t> </a:t>
            </a:r>
            <a:r>
              <a:rPr lang="en-US" b="1" dirty="0" err="1"/>
              <a:t>bộ</a:t>
            </a:r>
            <a:r>
              <a:rPr lang="en-US" dirty="0"/>
              <a:t>, </a:t>
            </a:r>
            <a:r>
              <a:rPr lang="en-US" dirty="0" err="1"/>
              <a:t>những</a:t>
            </a:r>
            <a:r>
              <a:rPr lang="en-US" dirty="0"/>
              <a:t> </a:t>
            </a:r>
            <a:r>
              <a:rPr lang="en-US" dirty="0" err="1"/>
              <a:t>từ</a:t>
            </a:r>
            <a:r>
              <a:rPr lang="en-US" dirty="0"/>
              <a:t> </a:t>
            </a:r>
            <a:r>
              <a:rPr lang="en-US" dirty="0" err="1"/>
              <a:t>khóa</a:t>
            </a:r>
            <a:r>
              <a:rPr lang="en-US" dirty="0"/>
              <a:t> </a:t>
            </a:r>
            <a:r>
              <a:rPr lang="en-US" dirty="0" err="1"/>
              <a:t>như</a:t>
            </a:r>
            <a:r>
              <a:rPr lang="en-US" dirty="0"/>
              <a:t> </a:t>
            </a:r>
            <a:r>
              <a:rPr lang="en-US" b="1" dirty="0"/>
              <a:t>async-await</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các</a:t>
            </a:r>
            <a:r>
              <a:rPr lang="en-US" dirty="0"/>
              <a:t> </a:t>
            </a:r>
            <a:r>
              <a:rPr lang="en-US" dirty="0" err="1"/>
              <a:t>dự</a:t>
            </a:r>
            <a:r>
              <a:rPr lang="en-US" dirty="0"/>
              <a:t> </a:t>
            </a:r>
            <a:r>
              <a:rPr lang="en-US" dirty="0" err="1"/>
              <a:t>án</a:t>
            </a:r>
            <a:r>
              <a:rPr lang="en-US" dirty="0"/>
              <a:t> </a:t>
            </a:r>
            <a:r>
              <a:rPr lang="en-US" dirty="0" err="1"/>
              <a:t>phải</a:t>
            </a:r>
            <a:r>
              <a:rPr lang="en-US" dirty="0"/>
              <a:t> </a:t>
            </a:r>
            <a:r>
              <a:rPr lang="en-US" dirty="0" err="1"/>
              <a:t>thao</a:t>
            </a:r>
            <a:r>
              <a:rPr lang="en-US" dirty="0"/>
              <a:t> </a:t>
            </a:r>
            <a:r>
              <a:rPr lang="en-US" dirty="0" err="1"/>
              <a:t>tác</a:t>
            </a:r>
            <a:r>
              <a:rPr lang="en-US" dirty="0"/>
              <a:t> </a:t>
            </a:r>
            <a:r>
              <a:rPr lang="en-US" dirty="0" err="1"/>
              <a:t>với</a:t>
            </a:r>
            <a:r>
              <a:rPr lang="en-US" dirty="0"/>
              <a:t> </a:t>
            </a:r>
            <a:r>
              <a:rPr lang="en-US" dirty="0" err="1"/>
              <a:t>các</a:t>
            </a:r>
            <a:r>
              <a:rPr lang="en-US" dirty="0"/>
              <a:t> file, database, </a:t>
            </a:r>
            <a:r>
              <a:rPr lang="en-US" dirty="0" err="1"/>
              <a:t>api</a:t>
            </a:r>
            <a:r>
              <a:rPr lang="en-US" dirty="0"/>
              <a:t> hay </a:t>
            </a:r>
            <a:r>
              <a:rPr lang="en-US" dirty="0" err="1"/>
              <a:t>khi</a:t>
            </a:r>
            <a:r>
              <a:rPr lang="en-US" dirty="0"/>
              <a:t> </a:t>
            </a:r>
            <a:r>
              <a:rPr lang="en-US" dirty="0" err="1"/>
              <a:t>xử</a:t>
            </a:r>
            <a:r>
              <a:rPr lang="en-US" dirty="0"/>
              <a:t> </a:t>
            </a:r>
            <a:r>
              <a:rPr lang="en-US" dirty="0" err="1"/>
              <a:t>lý</a:t>
            </a:r>
            <a:r>
              <a:rPr lang="en-US" dirty="0"/>
              <a:t> </a:t>
            </a:r>
            <a:r>
              <a:rPr lang="en-US" dirty="0" err="1"/>
              <a:t>các</a:t>
            </a:r>
            <a:r>
              <a:rPr lang="en-US" dirty="0"/>
              <a:t> task </a:t>
            </a:r>
            <a:r>
              <a:rPr lang="en-US" dirty="0" err="1"/>
              <a:t>vụ</a:t>
            </a:r>
            <a:r>
              <a:rPr lang="en-US" dirty="0"/>
              <a:t> </a:t>
            </a:r>
            <a:r>
              <a:rPr lang="en-US" dirty="0" err="1"/>
              <a:t>nặng</a:t>
            </a:r>
            <a:r>
              <a:rPr lang="en-US" dirty="0"/>
              <a:t> </a:t>
            </a:r>
            <a:r>
              <a:rPr lang="en-US" dirty="0" err="1"/>
              <a:t>về</a:t>
            </a:r>
            <a:r>
              <a:rPr lang="en-US" dirty="0"/>
              <a:t> </a:t>
            </a:r>
            <a:r>
              <a:rPr lang="en-US" dirty="0" err="1"/>
              <a:t>tính</a:t>
            </a:r>
            <a:r>
              <a:rPr lang="en-US" dirty="0"/>
              <a:t> </a:t>
            </a:r>
            <a:r>
              <a:rPr lang="en-US" dirty="0" err="1"/>
              <a:t>toán</a:t>
            </a:r>
            <a:r>
              <a:rPr lang="en-US" dirty="0"/>
              <a:t>. </a:t>
            </a:r>
            <a:r>
              <a:rPr lang="en-US" b="1" dirty="0" err="1"/>
              <a:t>Nếu</a:t>
            </a:r>
            <a:r>
              <a:rPr lang="en-US" b="1" dirty="0"/>
              <a:t> </a:t>
            </a:r>
            <a:r>
              <a:rPr lang="en-US" b="1" dirty="0" err="1"/>
              <a:t>không</a:t>
            </a:r>
            <a:r>
              <a:rPr lang="en-US" b="1" dirty="0"/>
              <a:t> </a:t>
            </a:r>
            <a:r>
              <a:rPr lang="en-US" b="1" dirty="0" err="1"/>
              <a:t>có</a:t>
            </a:r>
            <a:r>
              <a:rPr lang="en-US" b="1" dirty="0"/>
              <a:t> </a:t>
            </a:r>
            <a:r>
              <a:rPr lang="en-US" b="1" dirty="0" err="1"/>
              <a:t>hiểu</a:t>
            </a:r>
            <a:r>
              <a:rPr lang="en-US" b="1" dirty="0"/>
              <a:t> </a:t>
            </a:r>
            <a:r>
              <a:rPr lang="en-US" b="1" dirty="0" err="1"/>
              <a:t>biết</a:t>
            </a:r>
            <a:r>
              <a:rPr lang="en-US" b="1" dirty="0"/>
              <a:t> </a:t>
            </a:r>
            <a:r>
              <a:rPr lang="en-US" dirty="0" err="1"/>
              <a:t>kĩ</a:t>
            </a:r>
            <a:r>
              <a:rPr lang="en-US" dirty="0"/>
              <a:t> </a:t>
            </a:r>
            <a:r>
              <a:rPr lang="en-US" dirty="0" err="1"/>
              <a:t>lưỡng</a:t>
            </a:r>
            <a:r>
              <a:rPr lang="en-US" dirty="0"/>
              <a:t> </a:t>
            </a:r>
            <a:r>
              <a:rPr lang="en-US" dirty="0" err="1"/>
              <a:t>về</a:t>
            </a:r>
            <a:r>
              <a:rPr lang="en-US" dirty="0"/>
              <a:t> </a:t>
            </a:r>
            <a:r>
              <a:rPr lang="en-US" dirty="0" err="1"/>
              <a:t>phần</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này</a:t>
            </a:r>
            <a:r>
              <a:rPr lang="en-US" dirty="0"/>
              <a:t>, </a:t>
            </a:r>
            <a:r>
              <a:rPr lang="en-US" dirty="0" err="1"/>
              <a:t>chúng</a:t>
            </a:r>
            <a:r>
              <a:rPr lang="en-US" dirty="0"/>
              <a:t> ta </a:t>
            </a:r>
            <a:r>
              <a:rPr lang="en-US" dirty="0" err="1"/>
              <a:t>rất</a:t>
            </a:r>
            <a:r>
              <a:rPr lang="en-US" dirty="0"/>
              <a:t> </a:t>
            </a:r>
            <a:r>
              <a:rPr lang="en-US" dirty="0" err="1"/>
              <a:t>dễ</a:t>
            </a:r>
            <a:r>
              <a:rPr lang="en-US" dirty="0"/>
              <a:t> </a:t>
            </a:r>
            <a:r>
              <a:rPr lang="en-US" dirty="0" err="1"/>
              <a:t>làm</a:t>
            </a:r>
            <a:r>
              <a:rPr lang="en-US" dirty="0"/>
              <a:t> </a:t>
            </a:r>
            <a:r>
              <a:rPr lang="en-US" dirty="0" err="1"/>
              <a:t>treo</a:t>
            </a:r>
            <a:r>
              <a:rPr lang="en-US" dirty="0"/>
              <a:t> </a:t>
            </a:r>
            <a:r>
              <a:rPr lang="en-US" dirty="0" err="1"/>
              <a:t>giao</a:t>
            </a:r>
            <a:r>
              <a:rPr lang="en-US" dirty="0"/>
              <a:t> </a:t>
            </a:r>
            <a:r>
              <a:rPr lang="en-US" dirty="0" err="1"/>
              <a:t>diện</a:t>
            </a:r>
            <a:r>
              <a:rPr lang="en-US" dirty="0"/>
              <a:t>, </a:t>
            </a:r>
            <a:r>
              <a:rPr lang="en-US" dirty="0" err="1"/>
              <a:t>chương</a:t>
            </a:r>
            <a:r>
              <a:rPr lang="en-US" dirty="0"/>
              <a:t> </a:t>
            </a:r>
            <a:r>
              <a:rPr lang="en-US" dirty="0" err="1"/>
              <a:t>trình</a:t>
            </a:r>
            <a:r>
              <a:rPr lang="en-US" dirty="0"/>
              <a:t> </a:t>
            </a:r>
            <a:r>
              <a:rPr lang="en-US" dirty="0" err="1"/>
              <a:t>chạy</a:t>
            </a:r>
            <a:r>
              <a:rPr lang="en-US" dirty="0"/>
              <a:t> </a:t>
            </a:r>
            <a:r>
              <a:rPr lang="en-US" dirty="0" err="1"/>
              <a:t>giật</a:t>
            </a:r>
            <a:r>
              <a:rPr lang="en-US" dirty="0"/>
              <a:t> lag, </a:t>
            </a:r>
            <a:r>
              <a:rPr lang="en-US" dirty="0" err="1"/>
              <a:t>thậm</a:t>
            </a:r>
            <a:r>
              <a:rPr lang="en-US" dirty="0"/>
              <a:t> </a:t>
            </a:r>
            <a:r>
              <a:rPr lang="en-US" dirty="0" err="1"/>
              <a:t>chí</a:t>
            </a:r>
            <a:r>
              <a:rPr lang="en-US" dirty="0"/>
              <a:t> </a:t>
            </a:r>
            <a:r>
              <a:rPr lang="en-US" dirty="0" err="1"/>
              <a:t>làm</a:t>
            </a:r>
            <a:r>
              <a:rPr lang="en-US" dirty="0"/>
              <a:t> crash app.</a:t>
            </a:r>
          </a:p>
          <a:p>
            <a:pPr marL="171450" indent="-171450">
              <a:buFontTx/>
              <a:buChar char="-"/>
            </a:pPr>
            <a:endParaRPr lang="en-US" dirty="0"/>
          </a:p>
          <a:p>
            <a:pPr marL="171450" indent="-171450">
              <a:buFontTx/>
              <a:buChar char="-"/>
            </a:pPr>
            <a:r>
              <a:rPr lang="en-US" dirty="0" err="1"/>
              <a:t>Và</a:t>
            </a:r>
            <a:r>
              <a:rPr lang="en-US" dirty="0"/>
              <a:t> </a:t>
            </a:r>
            <a:r>
              <a:rPr lang="en-US" b="1" dirty="0" err="1"/>
              <a:t>mục</a:t>
            </a:r>
            <a:r>
              <a:rPr lang="en-US" b="1" dirty="0"/>
              <a:t> </a:t>
            </a:r>
            <a:r>
              <a:rPr lang="en-US" b="1" dirty="0" err="1"/>
              <a:t>tiêu</a:t>
            </a:r>
            <a:r>
              <a:rPr lang="en-US" b="1" dirty="0"/>
              <a:t> </a:t>
            </a:r>
            <a:r>
              <a:rPr lang="en-US" b="1" dirty="0" err="1"/>
              <a:t>của</a:t>
            </a:r>
            <a:r>
              <a:rPr lang="en-US" b="1" dirty="0"/>
              <a:t> </a:t>
            </a:r>
            <a:r>
              <a:rPr lang="en-US" b="1" dirty="0" err="1"/>
              <a:t>buổi</a:t>
            </a:r>
            <a:r>
              <a:rPr lang="en-US" b="1" dirty="0"/>
              <a:t> </a:t>
            </a:r>
            <a:r>
              <a:rPr lang="en-US" b="1" dirty="0" err="1"/>
              <a:t>thuyết</a:t>
            </a:r>
            <a:r>
              <a:rPr lang="en-US" b="1" dirty="0"/>
              <a:t> </a:t>
            </a:r>
            <a:r>
              <a:rPr lang="en-US" b="1" dirty="0" err="1"/>
              <a:t>trình</a:t>
            </a:r>
            <a:r>
              <a:rPr lang="en-US" b="1" dirty="0"/>
              <a:t> </a:t>
            </a:r>
            <a:r>
              <a:rPr lang="en-US" dirty="0" err="1"/>
              <a:t>ngày</a:t>
            </a:r>
            <a:r>
              <a:rPr lang="en-US" dirty="0"/>
              <a:t> </a:t>
            </a:r>
            <a:r>
              <a:rPr lang="en-US" dirty="0" err="1"/>
              <a:t>hôm</a:t>
            </a:r>
            <a:r>
              <a:rPr lang="en-US" dirty="0"/>
              <a:t> nay </a:t>
            </a:r>
            <a:r>
              <a:rPr lang="en-US" dirty="0" err="1"/>
              <a:t>của</a:t>
            </a:r>
            <a:r>
              <a:rPr lang="en-US" dirty="0"/>
              <a:t> </a:t>
            </a:r>
            <a:r>
              <a:rPr lang="en-US" dirty="0" err="1"/>
              <a:t>nhóm</a:t>
            </a:r>
            <a:r>
              <a:rPr lang="en-US" dirty="0"/>
              <a:t> </a:t>
            </a:r>
            <a:r>
              <a:rPr lang="en-US" dirty="0" err="1"/>
              <a:t>em</a:t>
            </a:r>
            <a:r>
              <a:rPr lang="en-US" dirty="0"/>
              <a:t> </a:t>
            </a:r>
            <a:r>
              <a:rPr lang="en-US" dirty="0" err="1"/>
              <a:t>là</a:t>
            </a:r>
            <a:r>
              <a:rPr lang="en-US" dirty="0"/>
              <a:t>:</a:t>
            </a:r>
          </a:p>
          <a:p>
            <a:pPr marL="228600" indent="-228600">
              <a:buFont typeface="+mj-lt"/>
              <a:buAutoNum type="arabicPeriod"/>
            </a:pPr>
            <a:r>
              <a:rPr lang="en-US" dirty="0" err="1"/>
              <a:t>Mong</a:t>
            </a:r>
            <a:r>
              <a:rPr lang="en-US" dirty="0"/>
              <a:t> </a:t>
            </a:r>
            <a:r>
              <a:rPr lang="en-US" dirty="0" err="1"/>
              <a:t>muốn</a:t>
            </a:r>
            <a:r>
              <a:rPr lang="en-US" dirty="0"/>
              <a:t> </a:t>
            </a:r>
            <a:r>
              <a:rPr lang="en-US" dirty="0" err="1"/>
              <a:t>các</a:t>
            </a:r>
            <a:r>
              <a:rPr lang="en-US" dirty="0"/>
              <a:t> </a:t>
            </a:r>
            <a:r>
              <a:rPr lang="en-US" dirty="0" err="1"/>
              <a:t>bạn</a:t>
            </a:r>
            <a:r>
              <a:rPr lang="en-US" dirty="0"/>
              <a:t> </a:t>
            </a:r>
            <a:r>
              <a:rPr lang="en-US" b="1" dirty="0" err="1"/>
              <a:t>được</a:t>
            </a:r>
            <a:r>
              <a:rPr lang="en-US" b="1" dirty="0"/>
              <a:t> </a:t>
            </a:r>
            <a:r>
              <a:rPr lang="en-US" b="1" dirty="0" err="1"/>
              <a:t>trang</a:t>
            </a:r>
            <a:r>
              <a:rPr lang="en-US" b="1" dirty="0"/>
              <a:t> </a:t>
            </a:r>
            <a:r>
              <a:rPr lang="en-US" b="1" dirty="0" err="1"/>
              <a:t>bị</a:t>
            </a:r>
            <a:r>
              <a:rPr lang="en-US" b="1" dirty="0"/>
              <a:t> </a:t>
            </a:r>
            <a:r>
              <a:rPr lang="en-US" b="1" dirty="0" err="1"/>
              <a:t>kiến</a:t>
            </a:r>
            <a:r>
              <a:rPr lang="en-US" b="1" dirty="0"/>
              <a:t> </a:t>
            </a:r>
            <a:r>
              <a:rPr lang="en-US" b="1" dirty="0" err="1"/>
              <a:t>thức</a:t>
            </a:r>
            <a:r>
              <a:rPr lang="en-US" dirty="0"/>
              <a:t> </a:t>
            </a:r>
            <a:r>
              <a:rPr lang="en-US" dirty="0" err="1"/>
              <a:t>và</a:t>
            </a:r>
            <a:r>
              <a:rPr lang="en-US" dirty="0"/>
              <a:t> </a:t>
            </a:r>
            <a:r>
              <a:rPr lang="en-US" dirty="0" err="1"/>
              <a:t>hiểu</a:t>
            </a:r>
            <a:r>
              <a:rPr lang="en-US" dirty="0"/>
              <a:t> </a:t>
            </a:r>
            <a:r>
              <a:rPr lang="en-US" dirty="0" err="1"/>
              <a:t>rõ</a:t>
            </a:r>
            <a:r>
              <a:rPr lang="en-US" dirty="0"/>
              <a:t> </a:t>
            </a:r>
            <a:r>
              <a:rPr lang="en-US" dirty="0" err="1"/>
              <a:t>hơn</a:t>
            </a:r>
            <a:r>
              <a:rPr lang="en-US" dirty="0"/>
              <a:t> </a:t>
            </a:r>
            <a:r>
              <a:rPr lang="en-US" dirty="0" err="1"/>
              <a:t>về</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cách</a:t>
            </a:r>
            <a:r>
              <a:rPr lang="en-US" dirty="0"/>
              <a:t> </a:t>
            </a:r>
            <a:r>
              <a:rPr lang="en-US" dirty="0" err="1"/>
              <a:t>thức</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chương</a:t>
            </a:r>
            <a:r>
              <a:rPr lang="en-US" dirty="0"/>
              <a:t> </a:t>
            </a:r>
            <a:r>
              <a:rPr lang="en-US" dirty="0" err="1"/>
              <a:t>trình</a:t>
            </a:r>
            <a:r>
              <a:rPr lang="en-US" dirty="0"/>
              <a:t> </a:t>
            </a:r>
            <a:r>
              <a:rPr lang="en-US" dirty="0" err="1"/>
              <a:t>khi</a:t>
            </a:r>
            <a:r>
              <a:rPr lang="en-US" dirty="0"/>
              <a:t> </a:t>
            </a:r>
            <a:r>
              <a:rPr lang="en-US" dirty="0" err="1"/>
              <a:t>gặp</a:t>
            </a:r>
            <a:r>
              <a:rPr lang="en-US" dirty="0"/>
              <a:t> </a:t>
            </a:r>
            <a:r>
              <a:rPr lang="en-US" dirty="0" err="1"/>
              <a:t>từ</a:t>
            </a:r>
            <a:r>
              <a:rPr lang="en-US" dirty="0"/>
              <a:t> </a:t>
            </a:r>
            <a:r>
              <a:rPr lang="en-US" dirty="0" err="1"/>
              <a:t>khóa</a:t>
            </a:r>
            <a:r>
              <a:rPr lang="en-US" dirty="0"/>
              <a:t> async-await, </a:t>
            </a:r>
            <a:r>
              <a:rPr lang="en-US" dirty="0" err="1"/>
              <a:t>luồng</a:t>
            </a:r>
            <a:r>
              <a:rPr lang="en-US" dirty="0"/>
              <a:t> </a:t>
            </a:r>
            <a:r>
              <a:rPr lang="en-US" dirty="0" err="1"/>
              <a:t>chạy</a:t>
            </a:r>
            <a:r>
              <a:rPr lang="en-US" dirty="0"/>
              <a:t> </a:t>
            </a:r>
            <a:r>
              <a:rPr lang="en-US" dirty="0" err="1"/>
              <a:t>và</a:t>
            </a:r>
            <a:r>
              <a:rPr lang="en-US" dirty="0"/>
              <a:t> </a:t>
            </a:r>
            <a:r>
              <a:rPr lang="en-US" dirty="0" err="1"/>
              <a:t>các</a:t>
            </a:r>
            <a:r>
              <a:rPr lang="en-US" dirty="0"/>
              <a:t> handle exception </a:t>
            </a:r>
            <a:r>
              <a:rPr lang="en-US" dirty="0" err="1"/>
              <a:t>trong</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a:t>
            </a:r>
          </a:p>
          <a:p>
            <a:pPr marL="228600" indent="-228600">
              <a:buFont typeface="+mj-lt"/>
              <a:buAutoNum type="arabicPeriod"/>
            </a:pPr>
            <a:r>
              <a:rPr lang="en-US" dirty="0"/>
              <a:t>Các </a:t>
            </a:r>
            <a:r>
              <a:rPr lang="en-US" dirty="0" err="1"/>
              <a:t>bạn</a:t>
            </a:r>
            <a:r>
              <a:rPr lang="en-US" dirty="0"/>
              <a:t> </a:t>
            </a:r>
            <a:r>
              <a:rPr lang="en-US" dirty="0" err="1"/>
              <a:t>có</a:t>
            </a:r>
            <a:r>
              <a:rPr lang="en-US" dirty="0"/>
              <a:t> </a:t>
            </a:r>
            <a:r>
              <a:rPr lang="en-US" dirty="0" err="1"/>
              <a:t>thể</a:t>
            </a:r>
            <a:r>
              <a:rPr lang="en-US" dirty="0"/>
              <a:t> </a:t>
            </a:r>
            <a:r>
              <a:rPr lang="en-US" b="1" dirty="0" err="1"/>
              <a:t>áp</a:t>
            </a:r>
            <a:r>
              <a:rPr lang="en-US" b="1" dirty="0"/>
              <a:t> </a:t>
            </a:r>
            <a:r>
              <a:rPr lang="en-US" b="1" dirty="0" err="1"/>
              <a:t>dụng</a:t>
            </a:r>
            <a:r>
              <a:rPr lang="en-US" b="1" dirty="0"/>
              <a:t> </a:t>
            </a:r>
            <a:r>
              <a:rPr lang="en-US" b="1" dirty="0" err="1"/>
              <a:t>trực</a:t>
            </a:r>
            <a:r>
              <a:rPr lang="en-US" b="1" dirty="0"/>
              <a:t> </a:t>
            </a:r>
            <a:r>
              <a:rPr lang="en-US" b="1" dirty="0" err="1"/>
              <a:t>tiếp</a:t>
            </a:r>
            <a:r>
              <a:rPr lang="en-US" b="1" dirty="0"/>
              <a:t> </a:t>
            </a:r>
            <a:r>
              <a:rPr lang="en-US" b="1" dirty="0" err="1"/>
              <a:t>những</a:t>
            </a:r>
            <a:r>
              <a:rPr lang="en-US" b="1" dirty="0"/>
              <a:t> </a:t>
            </a:r>
            <a:r>
              <a:rPr lang="en-US" b="1" dirty="0" err="1"/>
              <a:t>kiến</a:t>
            </a:r>
            <a:r>
              <a:rPr lang="en-US" b="1" dirty="0"/>
              <a:t> </a:t>
            </a:r>
            <a:r>
              <a:rPr lang="en-US" b="1" dirty="0" err="1"/>
              <a:t>thức</a:t>
            </a:r>
            <a:r>
              <a:rPr lang="en-US" b="1" dirty="0"/>
              <a:t> </a:t>
            </a:r>
            <a:r>
              <a:rPr lang="en-US" dirty="0" err="1"/>
              <a:t>này</a:t>
            </a:r>
            <a:r>
              <a:rPr lang="en-US" dirty="0"/>
              <a:t> </a:t>
            </a:r>
            <a:r>
              <a:rPr lang="en-US" dirty="0" err="1"/>
              <a:t>vào</a:t>
            </a:r>
            <a:r>
              <a:rPr lang="en-US" dirty="0"/>
              <a:t> </a:t>
            </a:r>
            <a:r>
              <a:rPr lang="en-US" dirty="0" err="1"/>
              <a:t>trong</a:t>
            </a:r>
            <a:r>
              <a:rPr lang="en-US" dirty="0"/>
              <a:t> assignment </a:t>
            </a:r>
            <a:r>
              <a:rPr lang="en-US" dirty="0" err="1"/>
              <a:t>cũng</a:t>
            </a:r>
            <a:r>
              <a:rPr lang="en-US" dirty="0"/>
              <a:t> </a:t>
            </a:r>
            <a:r>
              <a:rPr lang="en-US" dirty="0" err="1"/>
              <a:t>như</a:t>
            </a:r>
            <a:r>
              <a:rPr lang="en-US" dirty="0"/>
              <a:t> </a:t>
            </a:r>
            <a:r>
              <a:rPr lang="en-US" dirty="0" err="1"/>
              <a:t>là</a:t>
            </a:r>
            <a:r>
              <a:rPr lang="en-US" dirty="0"/>
              <a:t> </a:t>
            </a:r>
            <a:r>
              <a:rPr lang="en-US" b="1" dirty="0" err="1"/>
              <a:t>trong</a:t>
            </a:r>
            <a:r>
              <a:rPr lang="en-US" b="1" dirty="0"/>
              <a:t> </a:t>
            </a:r>
            <a:r>
              <a:rPr lang="en-US" b="1" dirty="0" err="1"/>
              <a:t>các</a:t>
            </a:r>
            <a:r>
              <a:rPr lang="en-US" b="1" dirty="0"/>
              <a:t> project </a:t>
            </a:r>
            <a:r>
              <a:rPr lang="en-US" b="1" dirty="0" err="1"/>
              <a:t>của</a:t>
            </a:r>
            <a:r>
              <a:rPr lang="en-US" b="1" dirty="0"/>
              <a:t> </a:t>
            </a:r>
            <a:r>
              <a:rPr lang="en-US" b="1" dirty="0" err="1"/>
              <a:t>bộ</a:t>
            </a:r>
            <a:r>
              <a:rPr lang="en-US" b="1" dirty="0"/>
              <a:t> </a:t>
            </a:r>
            <a:r>
              <a:rPr lang="en-US" b="1" dirty="0" err="1"/>
              <a:t>phận</a:t>
            </a:r>
            <a:r>
              <a:rPr lang="en-US" dirty="0"/>
              <a:t>, </a:t>
            </a:r>
            <a:r>
              <a:rPr lang="en-US" dirty="0" err="1"/>
              <a:t>góp</a:t>
            </a:r>
            <a:r>
              <a:rPr lang="en-US" dirty="0"/>
              <a:t> </a:t>
            </a:r>
            <a:r>
              <a:rPr lang="en-US" dirty="0" err="1"/>
              <a:t>phần</a:t>
            </a:r>
            <a:r>
              <a:rPr lang="en-US" dirty="0"/>
              <a:t> </a:t>
            </a:r>
            <a:r>
              <a:rPr lang="en-US" dirty="0" err="1"/>
              <a:t>làm</a:t>
            </a:r>
            <a:r>
              <a:rPr lang="en-US" dirty="0"/>
              <a:t> app </a:t>
            </a:r>
            <a:r>
              <a:rPr lang="en-US" dirty="0" err="1"/>
              <a:t>của</a:t>
            </a:r>
            <a:r>
              <a:rPr lang="en-US" dirty="0"/>
              <a:t> </a:t>
            </a:r>
            <a:r>
              <a:rPr lang="en-US" dirty="0" err="1"/>
              <a:t>chúng</a:t>
            </a:r>
            <a:r>
              <a:rPr lang="en-US" dirty="0"/>
              <a:t> ta </a:t>
            </a:r>
            <a:r>
              <a:rPr lang="en-US" dirty="0" err="1"/>
              <a:t>chạy</a:t>
            </a:r>
            <a:r>
              <a:rPr lang="en-US" dirty="0"/>
              <a:t> </a:t>
            </a:r>
            <a:r>
              <a:rPr lang="en-US" dirty="0" err="1"/>
              <a:t>ngon</a:t>
            </a:r>
            <a:r>
              <a:rPr lang="en-US" dirty="0"/>
              <a:t> </a:t>
            </a:r>
            <a:r>
              <a:rPr lang="en-US" dirty="0" err="1"/>
              <a:t>hơn</a:t>
            </a:r>
            <a:r>
              <a:rPr lang="en-US" dirty="0"/>
              <a:t>.</a:t>
            </a:r>
            <a:br>
              <a:rPr lang="en-US" dirty="0"/>
            </a:br>
            <a:endParaRPr lang="en-US" dirty="0"/>
          </a:p>
        </p:txBody>
      </p:sp>
      <p:sp>
        <p:nvSpPr>
          <p:cNvPr id="4" name="Slide Number Placeholder 3"/>
          <p:cNvSpPr>
            <a:spLocks noGrp="1"/>
          </p:cNvSpPr>
          <p:nvPr>
            <p:ph type="sldNum" sz="quarter" idx="5"/>
          </p:nvPr>
        </p:nvSpPr>
        <p:spPr/>
        <p:txBody>
          <a:bodyPr/>
          <a:lstStyle/>
          <a:p>
            <a:fld id="{520FF826-09D7-4BFB-A6F2-AAC85BBDF987}" type="slidenum">
              <a:rPr lang="en-US" smtClean="0"/>
              <a:t>1</a:t>
            </a:fld>
            <a:endParaRPr lang="en-US"/>
          </a:p>
        </p:txBody>
      </p:sp>
    </p:spTree>
    <p:extLst>
      <p:ext uri="{BB962C8B-B14F-4D97-AF65-F5344CB8AC3E}">
        <p14:creationId xmlns:p14="http://schemas.microsoft.com/office/powerpoint/2010/main" val="1756261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Với</a:t>
            </a:r>
            <a:r>
              <a:rPr lang="en-US" dirty="0"/>
              <a:t> </a:t>
            </a:r>
            <a:r>
              <a:rPr lang="en-US" dirty="0" err="1"/>
              <a:t>các</a:t>
            </a:r>
            <a:r>
              <a:rPr lang="en-US" dirty="0"/>
              <a:t> </a:t>
            </a:r>
            <a:r>
              <a:rPr lang="en-US" dirty="0" err="1"/>
              <a:t>bạn</a:t>
            </a:r>
            <a:r>
              <a:rPr lang="en-US" dirty="0"/>
              <a:t> ở </a:t>
            </a:r>
            <a:r>
              <a:rPr lang="en-US" dirty="0" err="1"/>
              <a:t>đây</a:t>
            </a:r>
            <a:r>
              <a:rPr lang="en-US" dirty="0"/>
              <a:t> </a:t>
            </a:r>
            <a:r>
              <a:rPr lang="en-US" dirty="0" err="1"/>
              <a:t>thì</a:t>
            </a:r>
            <a:r>
              <a:rPr lang="en-US" dirty="0"/>
              <a:t> </a:t>
            </a:r>
            <a:r>
              <a:rPr lang="en-US" dirty="0" err="1"/>
              <a:t>đều</a:t>
            </a:r>
            <a:r>
              <a:rPr lang="en-US" dirty="0"/>
              <a:t> </a:t>
            </a:r>
            <a:r>
              <a:rPr lang="en-US" b="1" dirty="0" err="1"/>
              <a:t>đã</a:t>
            </a:r>
            <a:r>
              <a:rPr lang="en-US" b="1" dirty="0"/>
              <a:t> </a:t>
            </a:r>
            <a:r>
              <a:rPr lang="en-US" b="1" dirty="0" err="1"/>
              <a:t>được</a:t>
            </a:r>
            <a:r>
              <a:rPr lang="en-US" b="1" dirty="0"/>
              <a:t> </a:t>
            </a:r>
            <a:r>
              <a:rPr lang="en-US" b="1" dirty="0" err="1"/>
              <a:t>học</a:t>
            </a:r>
            <a:r>
              <a:rPr lang="en-US" b="1" dirty="0"/>
              <a:t> </a:t>
            </a:r>
            <a:r>
              <a:rPr lang="en-US" b="1" dirty="0" err="1"/>
              <a:t>khóa</a:t>
            </a:r>
            <a:r>
              <a:rPr lang="en-US" b="1" dirty="0"/>
              <a:t> </a:t>
            </a:r>
            <a:r>
              <a:rPr lang="en-US" dirty="0"/>
              <a:t>C# </a:t>
            </a:r>
            <a:r>
              <a:rPr lang="en-US" dirty="0" err="1"/>
              <a:t>và</a:t>
            </a:r>
            <a:r>
              <a:rPr lang="en-US" dirty="0"/>
              <a:t> XAML. Trong </a:t>
            </a:r>
            <a:r>
              <a:rPr lang="en-US" dirty="0" err="1"/>
              <a:t>đó</a:t>
            </a:r>
            <a:r>
              <a:rPr lang="en-US" dirty="0"/>
              <a:t> </a:t>
            </a:r>
            <a:r>
              <a:rPr lang="en-US" dirty="0" err="1"/>
              <a:t>đã</a:t>
            </a:r>
            <a:r>
              <a:rPr lang="en-US" dirty="0"/>
              <a:t> </a:t>
            </a:r>
            <a:r>
              <a:rPr lang="en-US" dirty="0" err="1"/>
              <a:t>được</a:t>
            </a:r>
            <a:r>
              <a:rPr lang="en-US" dirty="0"/>
              <a:t> </a:t>
            </a:r>
            <a:r>
              <a:rPr lang="en-US" dirty="0" err="1"/>
              <a:t>học</a:t>
            </a:r>
            <a:r>
              <a:rPr lang="en-US" dirty="0"/>
              <a:t> </a:t>
            </a:r>
            <a:r>
              <a:rPr lang="en-US" dirty="0" err="1"/>
              <a:t>về</a:t>
            </a:r>
            <a:r>
              <a:rPr lang="en-US" dirty="0"/>
              <a:t> </a:t>
            </a:r>
            <a:r>
              <a:rPr lang="en-US" dirty="0" err="1"/>
              <a:t>khái</a:t>
            </a:r>
            <a:r>
              <a:rPr lang="en-US" dirty="0"/>
              <a:t> </a:t>
            </a:r>
            <a:r>
              <a:rPr lang="en-US" dirty="0" err="1"/>
              <a:t>niệm</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các</a:t>
            </a:r>
            <a:r>
              <a:rPr lang="en-US" dirty="0"/>
              <a:t> </a:t>
            </a:r>
            <a:r>
              <a:rPr lang="en-US" dirty="0" err="1"/>
              <a:t>sử</a:t>
            </a:r>
            <a:r>
              <a:rPr lang="en-US" dirty="0"/>
              <a:t> </a:t>
            </a:r>
            <a:r>
              <a:rPr lang="en-US" dirty="0" err="1"/>
              <a:t>dụng</a:t>
            </a:r>
            <a:r>
              <a:rPr lang="en-US" dirty="0"/>
              <a:t> async-await. </a:t>
            </a:r>
            <a:r>
              <a:rPr lang="en-US" dirty="0" err="1"/>
              <a:t>Và</a:t>
            </a:r>
            <a:r>
              <a:rPr lang="en-US" dirty="0"/>
              <a:t> </a:t>
            </a:r>
            <a:r>
              <a:rPr lang="en-US" dirty="0" err="1"/>
              <a:t>trong</a:t>
            </a:r>
            <a:r>
              <a:rPr lang="en-US" dirty="0"/>
              <a:t> </a:t>
            </a:r>
            <a:r>
              <a:rPr lang="en-US" dirty="0" err="1"/>
              <a:t>bài</a:t>
            </a:r>
            <a:r>
              <a:rPr lang="en-US" dirty="0"/>
              <a:t> </a:t>
            </a:r>
            <a:r>
              <a:rPr lang="en-US" dirty="0" err="1"/>
              <a:t>thuyết</a:t>
            </a:r>
            <a:r>
              <a:rPr lang="en-US" dirty="0"/>
              <a:t> </a:t>
            </a:r>
            <a:r>
              <a:rPr lang="en-US" dirty="0" err="1"/>
              <a:t>trình</a:t>
            </a:r>
            <a:r>
              <a:rPr lang="en-US" dirty="0"/>
              <a:t> </a:t>
            </a:r>
            <a:r>
              <a:rPr lang="en-US" dirty="0" err="1"/>
              <a:t>hôm</a:t>
            </a:r>
            <a:r>
              <a:rPr lang="en-US" dirty="0"/>
              <a:t> nay </a:t>
            </a:r>
            <a:r>
              <a:rPr lang="en-US" dirty="0" err="1"/>
              <a:t>chúng</a:t>
            </a:r>
            <a:r>
              <a:rPr lang="en-US" dirty="0"/>
              <a:t> </a:t>
            </a:r>
            <a:r>
              <a:rPr lang="en-US" dirty="0" err="1"/>
              <a:t>em</a:t>
            </a:r>
            <a:r>
              <a:rPr lang="en-US" dirty="0"/>
              <a:t> </a:t>
            </a:r>
            <a:r>
              <a:rPr lang="en-US" dirty="0" err="1"/>
              <a:t>sẽ</a:t>
            </a:r>
            <a:r>
              <a:rPr lang="en-US" dirty="0"/>
              <a:t> </a:t>
            </a:r>
            <a:r>
              <a:rPr lang="en-US" b="1" dirty="0" err="1"/>
              <a:t>chỉ</a:t>
            </a:r>
            <a:r>
              <a:rPr lang="en-US" b="1" dirty="0"/>
              <a:t> </a:t>
            </a:r>
            <a:r>
              <a:rPr lang="en-US" b="1" dirty="0" err="1"/>
              <a:t>nhắc</a:t>
            </a:r>
            <a:r>
              <a:rPr lang="en-US" b="1" dirty="0"/>
              <a:t> qua </a:t>
            </a:r>
            <a:r>
              <a:rPr lang="en-US" dirty="0" err="1"/>
              <a:t>lại</a:t>
            </a:r>
            <a:r>
              <a:rPr lang="en-US" dirty="0"/>
              <a:t> </a:t>
            </a:r>
            <a:r>
              <a:rPr lang="en-US" dirty="0" err="1"/>
              <a:t>về</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và</a:t>
            </a:r>
            <a:r>
              <a:rPr lang="en-US" dirty="0"/>
              <a:t> </a:t>
            </a:r>
            <a:r>
              <a:rPr lang="en-US" dirty="0" err="1"/>
              <a:t>cách</a:t>
            </a:r>
            <a:r>
              <a:rPr lang="en-US" dirty="0"/>
              <a:t> </a:t>
            </a:r>
            <a:r>
              <a:rPr lang="en-US" dirty="0" err="1"/>
              <a:t>sử</a:t>
            </a:r>
            <a:r>
              <a:rPr lang="en-US" dirty="0"/>
              <a:t> </a:t>
            </a:r>
            <a:r>
              <a:rPr lang="en-US" dirty="0" err="1"/>
              <a:t>dụng</a:t>
            </a:r>
            <a:r>
              <a:rPr lang="en-US" dirty="0"/>
              <a:t> async-await. </a:t>
            </a:r>
            <a:r>
              <a:rPr lang="en-US" dirty="0" err="1"/>
              <a:t>Và</a:t>
            </a:r>
            <a:r>
              <a:rPr lang="en-US" dirty="0"/>
              <a:t> </a:t>
            </a:r>
            <a:r>
              <a:rPr lang="en-US" dirty="0" err="1"/>
              <a:t>Buổi</a:t>
            </a:r>
            <a:r>
              <a:rPr lang="en-US" dirty="0"/>
              <a:t> </a:t>
            </a:r>
            <a:r>
              <a:rPr lang="en-US" dirty="0" err="1"/>
              <a:t>hôm</a:t>
            </a:r>
            <a:r>
              <a:rPr lang="en-US" dirty="0"/>
              <a:t> nay </a:t>
            </a:r>
            <a:r>
              <a:rPr lang="en-US" dirty="0" err="1"/>
              <a:t>chúng</a:t>
            </a:r>
            <a:r>
              <a:rPr lang="en-US" dirty="0"/>
              <a:t> ta </a:t>
            </a:r>
            <a:r>
              <a:rPr lang="en-US" dirty="0" err="1"/>
              <a:t>sẽ</a:t>
            </a:r>
            <a:r>
              <a:rPr lang="en-US" dirty="0"/>
              <a:t> </a:t>
            </a:r>
            <a:r>
              <a:rPr lang="en-US" b="1" dirty="0" err="1"/>
              <a:t>tập</a:t>
            </a:r>
            <a:r>
              <a:rPr lang="en-US" b="1" dirty="0"/>
              <a:t> </a:t>
            </a:r>
            <a:r>
              <a:rPr lang="en-US" b="1" dirty="0" err="1"/>
              <a:t>trung</a:t>
            </a:r>
            <a:r>
              <a:rPr lang="en-US" b="1" dirty="0"/>
              <a:t> </a:t>
            </a:r>
            <a:r>
              <a:rPr lang="en-US" b="1" dirty="0" err="1"/>
              <a:t>vào</a:t>
            </a:r>
            <a:r>
              <a:rPr lang="en-US" b="1" dirty="0"/>
              <a:t> </a:t>
            </a:r>
            <a:r>
              <a:rPr lang="en-US" b="1" dirty="0" err="1"/>
              <a:t>những</a:t>
            </a:r>
            <a:r>
              <a:rPr lang="en-US" b="1" dirty="0"/>
              <a:t> </a:t>
            </a:r>
            <a:r>
              <a:rPr lang="en-US" b="1" dirty="0" err="1"/>
              <a:t>khía</a:t>
            </a:r>
            <a:r>
              <a:rPr lang="en-US" b="1" dirty="0"/>
              <a:t> </a:t>
            </a:r>
            <a:r>
              <a:rPr lang="en-US" b="1" dirty="0" err="1"/>
              <a:t>cạnh</a:t>
            </a:r>
            <a:r>
              <a:rPr lang="en-US" b="1" dirty="0"/>
              <a:t> </a:t>
            </a:r>
            <a:r>
              <a:rPr lang="en-US" b="1" dirty="0" err="1"/>
              <a:t>sâu</a:t>
            </a:r>
            <a:r>
              <a:rPr lang="en-US" b="1" dirty="0"/>
              <a:t> </a:t>
            </a:r>
            <a:r>
              <a:rPr lang="en-US" b="1" dirty="0" err="1"/>
              <a:t>hơn</a:t>
            </a:r>
            <a:r>
              <a:rPr lang="en-US" b="1" dirty="0"/>
              <a:t> </a:t>
            </a:r>
            <a:r>
              <a:rPr lang="en-US" dirty="0" err="1"/>
              <a:t>của</a:t>
            </a:r>
            <a:r>
              <a:rPr lang="en-US" dirty="0"/>
              <a:t> </a:t>
            </a:r>
            <a:r>
              <a:rPr lang="en-US" dirty="0" err="1"/>
              <a:t>nó</a:t>
            </a:r>
            <a:r>
              <a:rPr lang="en-US" dirty="0"/>
              <a:t>: </a:t>
            </a:r>
            <a:r>
              <a:rPr lang="en-US" dirty="0" err="1"/>
              <a:t>Cách</a:t>
            </a:r>
            <a:r>
              <a:rPr lang="en-US" dirty="0"/>
              <a:t> </a:t>
            </a:r>
            <a:r>
              <a:rPr lang="en-US" dirty="0" err="1"/>
              <a:t>thức</a:t>
            </a:r>
            <a:r>
              <a:rPr lang="en-US" dirty="0"/>
              <a:t> </a:t>
            </a:r>
            <a:r>
              <a:rPr lang="en-US" dirty="0" err="1"/>
              <a:t>hoạt</a:t>
            </a:r>
            <a:r>
              <a:rPr lang="en-US" dirty="0"/>
              <a:t> </a:t>
            </a:r>
            <a:r>
              <a:rPr lang="en-US" dirty="0" err="1"/>
              <a:t>động</a:t>
            </a:r>
            <a:r>
              <a:rPr lang="en-US" dirty="0"/>
              <a:t> </a:t>
            </a:r>
            <a:r>
              <a:rPr lang="en-US" dirty="0" err="1"/>
              <a:t>khi</a:t>
            </a:r>
            <a:r>
              <a:rPr lang="en-US" dirty="0"/>
              <a:t> </a:t>
            </a:r>
            <a:r>
              <a:rPr lang="en-US" dirty="0" err="1"/>
              <a:t>gặp</a:t>
            </a:r>
            <a:r>
              <a:rPr lang="en-US" dirty="0"/>
              <a:t> 1 </a:t>
            </a:r>
            <a:r>
              <a:rPr lang="en-US" dirty="0" err="1"/>
              <a:t>phương</a:t>
            </a:r>
            <a:r>
              <a:rPr lang="en-US" dirty="0"/>
              <a:t> </a:t>
            </a:r>
            <a:r>
              <a:rPr lang="en-US" dirty="0" err="1"/>
              <a:t>thức</a:t>
            </a:r>
            <a:r>
              <a:rPr lang="en-US" dirty="0"/>
              <a:t> async-await </a:t>
            </a:r>
            <a:r>
              <a:rPr lang="en-US" dirty="0" err="1"/>
              <a:t>chương</a:t>
            </a:r>
            <a:r>
              <a:rPr lang="en-US" dirty="0"/>
              <a:t> </a:t>
            </a:r>
            <a:r>
              <a:rPr lang="en-US" dirty="0" err="1"/>
              <a:t>trình</a:t>
            </a:r>
            <a:r>
              <a:rPr lang="en-US" dirty="0"/>
              <a:t> </a:t>
            </a:r>
            <a:r>
              <a:rPr lang="en-US" dirty="0" err="1"/>
              <a:t>sẽ</a:t>
            </a:r>
            <a:r>
              <a:rPr lang="en-US" dirty="0"/>
              <a:t> </a:t>
            </a:r>
            <a:r>
              <a:rPr lang="en-US" dirty="0" err="1"/>
              <a:t>làm</a:t>
            </a:r>
            <a:r>
              <a:rPr lang="en-US" dirty="0"/>
              <a:t> </a:t>
            </a:r>
            <a:r>
              <a:rPr lang="en-US" dirty="0" err="1"/>
              <a:t>những</a:t>
            </a:r>
            <a:r>
              <a:rPr lang="en-US" dirty="0"/>
              <a:t> </a:t>
            </a:r>
            <a:r>
              <a:rPr lang="en-US" dirty="0" err="1"/>
              <a:t>gì</a:t>
            </a:r>
            <a:r>
              <a:rPr lang="en-US" dirty="0"/>
              <a:t>, </a:t>
            </a:r>
            <a:r>
              <a:rPr lang="en-US" dirty="0" err="1"/>
              <a:t>các</a:t>
            </a:r>
            <a:r>
              <a:rPr lang="en-US" dirty="0"/>
              <a:t> </a:t>
            </a:r>
            <a:r>
              <a:rPr lang="en-US" dirty="0" err="1"/>
              <a:t>luồng</a:t>
            </a:r>
            <a:r>
              <a:rPr lang="en-US" dirty="0"/>
              <a:t> </a:t>
            </a:r>
            <a:r>
              <a:rPr lang="en-US" dirty="0" err="1"/>
              <a:t>hoạt</a:t>
            </a:r>
            <a:r>
              <a:rPr lang="en-US" dirty="0"/>
              <a:t> </a:t>
            </a:r>
            <a:r>
              <a:rPr lang="en-US" dirty="0" err="1"/>
              <a:t>động</a:t>
            </a:r>
            <a:r>
              <a:rPr lang="en-US" dirty="0"/>
              <a:t> </a:t>
            </a:r>
            <a:r>
              <a:rPr lang="en-US" dirty="0" err="1"/>
              <a:t>ra</a:t>
            </a:r>
            <a:r>
              <a:rPr lang="en-US" dirty="0"/>
              <a:t> </a:t>
            </a:r>
            <a:r>
              <a:rPr lang="en-US" dirty="0" err="1"/>
              <a:t>sao</a:t>
            </a:r>
            <a:r>
              <a:rPr lang="en-US" dirty="0"/>
              <a:t>? </a:t>
            </a:r>
            <a:r>
              <a:rPr lang="en-US" dirty="0" err="1"/>
              <a:t>Và</a:t>
            </a:r>
            <a:r>
              <a:rPr lang="en-US" dirty="0"/>
              <a:t> </a:t>
            </a:r>
            <a:r>
              <a:rPr lang="en-US" dirty="0" err="1"/>
              <a:t>cách</a:t>
            </a:r>
            <a:r>
              <a:rPr lang="en-US" dirty="0"/>
              <a:t> </a:t>
            </a:r>
            <a:r>
              <a:rPr lang="en-US" dirty="0" err="1"/>
              <a:t>xử</a:t>
            </a:r>
            <a:r>
              <a:rPr lang="en-US" dirty="0"/>
              <a:t> </a:t>
            </a:r>
            <a:r>
              <a:rPr lang="en-US" dirty="0" err="1"/>
              <a:t>lý</a:t>
            </a:r>
            <a:r>
              <a:rPr lang="en-US" dirty="0"/>
              <a:t> exception </a:t>
            </a:r>
            <a:r>
              <a:rPr lang="en-US" dirty="0" err="1"/>
              <a:t>trong</a:t>
            </a:r>
            <a:r>
              <a:rPr lang="en-US" dirty="0"/>
              <a:t> </a:t>
            </a:r>
            <a:r>
              <a:rPr lang="en-US" dirty="0" err="1"/>
              <a:t>hàm</a:t>
            </a:r>
            <a:r>
              <a:rPr lang="en-US" dirty="0"/>
              <a:t> </a:t>
            </a:r>
            <a:r>
              <a:rPr lang="en-US" dirty="0" err="1"/>
              <a:t>bất</a:t>
            </a:r>
            <a:r>
              <a:rPr lang="en-US" dirty="0"/>
              <a:t> </a:t>
            </a:r>
            <a:r>
              <a:rPr lang="en-US" dirty="0" err="1"/>
              <a:t>đồng</a:t>
            </a:r>
            <a:r>
              <a:rPr lang="en-US" dirty="0"/>
              <a:t> </a:t>
            </a:r>
            <a:r>
              <a:rPr lang="en-US" dirty="0" err="1"/>
              <a:t>bộ</a:t>
            </a:r>
            <a:r>
              <a:rPr lang="en-US" dirty="0"/>
              <a:t>.</a:t>
            </a:r>
          </a:p>
          <a:p>
            <a:pPr marL="171450" indent="-171450">
              <a:buFontTx/>
              <a:buChar char="-"/>
            </a:pPr>
            <a:endParaRPr lang="en-US" dirty="0"/>
          </a:p>
          <a:p>
            <a:pPr marL="171450" indent="-171450">
              <a:buFontTx/>
              <a:buChar char="-"/>
            </a:pPr>
            <a:r>
              <a:rPr lang="en-US" dirty="0" err="1"/>
              <a:t>Và</a:t>
            </a:r>
            <a:r>
              <a:rPr lang="en-US" dirty="0"/>
              <a:t> </a:t>
            </a:r>
            <a:r>
              <a:rPr lang="en-US" dirty="0" err="1"/>
              <a:t>đó</a:t>
            </a:r>
            <a:r>
              <a:rPr lang="en-US" dirty="0"/>
              <a:t> </a:t>
            </a:r>
            <a:r>
              <a:rPr lang="en-US" dirty="0" err="1"/>
              <a:t>cũng</a:t>
            </a:r>
            <a:r>
              <a:rPr lang="en-US" dirty="0"/>
              <a:t> </a:t>
            </a:r>
            <a:r>
              <a:rPr lang="en-US" dirty="0" err="1"/>
              <a:t>chính</a:t>
            </a:r>
            <a:r>
              <a:rPr lang="en-US" dirty="0"/>
              <a:t> </a:t>
            </a:r>
            <a:r>
              <a:rPr lang="en-US" dirty="0" err="1"/>
              <a:t>là</a:t>
            </a:r>
            <a:r>
              <a:rPr lang="en-US" dirty="0"/>
              <a:t> </a:t>
            </a:r>
            <a:r>
              <a:rPr lang="en-US" b="1" dirty="0" err="1"/>
              <a:t>nội</a:t>
            </a:r>
            <a:r>
              <a:rPr lang="en-US" b="1" dirty="0"/>
              <a:t> dung 4 </a:t>
            </a:r>
            <a:r>
              <a:rPr lang="en-US" b="1" dirty="0" err="1"/>
              <a:t>phần</a:t>
            </a:r>
            <a:r>
              <a:rPr lang="en-US" b="1" dirty="0"/>
              <a:t> </a:t>
            </a:r>
            <a:r>
              <a:rPr lang="en-US" dirty="0" err="1"/>
              <a:t>của</a:t>
            </a:r>
            <a:r>
              <a:rPr lang="en-US" dirty="0"/>
              <a:t> </a:t>
            </a:r>
            <a:r>
              <a:rPr lang="en-US" dirty="0" err="1"/>
              <a:t>nhóm</a:t>
            </a:r>
            <a:r>
              <a:rPr lang="en-US" dirty="0"/>
              <a:t> </a:t>
            </a:r>
            <a:r>
              <a:rPr lang="en-US" dirty="0" err="1"/>
              <a:t>em</a:t>
            </a:r>
            <a:r>
              <a:rPr lang="en-US" dirty="0"/>
              <a:t>: </a:t>
            </a:r>
            <a:r>
              <a:rPr lang="en-US" dirty="0" err="1"/>
              <a:t>phần</a:t>
            </a:r>
            <a:r>
              <a:rPr lang="en-US" dirty="0"/>
              <a:t> 1 </a:t>
            </a:r>
            <a:r>
              <a:rPr lang="en-US" dirty="0" err="1"/>
              <a:t>là</a:t>
            </a:r>
            <a:r>
              <a:rPr lang="en-US" dirty="0"/>
              <a:t> ….</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520FF826-09D7-4BFB-A6F2-AAC85BBDF987}" type="slidenum">
              <a:rPr lang="en-US" smtClean="0"/>
              <a:t>2</a:t>
            </a:fld>
            <a:endParaRPr lang="en-US"/>
          </a:p>
        </p:txBody>
      </p:sp>
    </p:spTree>
    <p:extLst>
      <p:ext uri="{BB962C8B-B14F-4D97-AF65-F5344CB8AC3E}">
        <p14:creationId xmlns:p14="http://schemas.microsoft.com/office/powerpoint/2010/main" val="2035580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5"/>
          </p:nvPr>
        </p:nvSpPr>
        <p:spPr/>
        <p:txBody>
          <a:bodyPr/>
          <a:lstStyle/>
          <a:p>
            <a:fld id="{520FF826-09D7-4BFB-A6F2-AAC85BBDF987}" type="slidenum">
              <a:rPr lang="en-US" smtClean="0"/>
              <a:t>3</a:t>
            </a:fld>
            <a:endParaRPr lang="en-US"/>
          </a:p>
        </p:txBody>
      </p:sp>
    </p:spTree>
    <p:extLst>
      <p:ext uri="{BB962C8B-B14F-4D97-AF65-F5344CB8AC3E}">
        <p14:creationId xmlns:p14="http://schemas.microsoft.com/office/powerpoint/2010/main" val="2990737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03E84-ED4B-4636-B988-2EEFE8EBB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2A8E9-AB16-5442-7DF4-3CA75D20D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2E9A9-7A4E-53F3-32FB-8609CEADB446}"/>
              </a:ext>
            </a:extLst>
          </p:cNvPr>
          <p:cNvSpPr>
            <a:spLocks noGrp="1"/>
          </p:cNvSpPr>
          <p:nvPr>
            <p:ph type="body" idx="1"/>
          </p:nvPr>
        </p:nvSpPr>
        <p:spPr/>
        <p:txBody>
          <a:bodyPr/>
          <a:lstStyle/>
          <a:p>
            <a:pPr marL="228600" indent="-228600">
              <a:buFont typeface="+mj-lt"/>
              <a:buAutoNum type="arabicPeriod"/>
            </a:pPr>
            <a:r>
              <a:rPr lang="vi-VN" b="1" dirty="0"/>
              <a:t>Asynchronous programming</a:t>
            </a:r>
            <a:r>
              <a:rPr lang="vi-VN" dirty="0"/>
              <a:t> là kỹ thuật lập trình cho phép chương trình </a:t>
            </a:r>
            <a:r>
              <a:rPr lang="vi-VN" b="1" dirty="0"/>
              <a:t>tiếp tục chạy</a:t>
            </a:r>
            <a:r>
              <a:rPr lang="vi-VN" dirty="0"/>
              <a:t> mà </a:t>
            </a:r>
            <a:r>
              <a:rPr lang="vi-VN" b="1" dirty="0"/>
              <a:t>không phải chờ</a:t>
            </a:r>
            <a:r>
              <a:rPr lang="vi-VN" dirty="0"/>
              <a:t> các thao tác lâu hoàn thành (như I/O, network, file), giúp ứng dụng </a:t>
            </a:r>
            <a:r>
              <a:rPr lang="vi-VN" b="1" dirty="0"/>
              <a:t>không bị chặn</a:t>
            </a:r>
            <a:r>
              <a:rPr lang="vi-VN" dirty="0"/>
              <a:t> và luôn </a:t>
            </a:r>
            <a:r>
              <a:rPr lang="vi-VN" b="1" dirty="0"/>
              <a:t>responsive</a:t>
            </a:r>
            <a:r>
              <a:rPr lang="vi-VN" dirty="0"/>
              <a:t>.</a:t>
            </a:r>
            <a:endParaRPr lang="en-US" dirty="0"/>
          </a:p>
          <a:p>
            <a:pPr marL="228600" indent="-228600">
              <a:buFont typeface="+mj-lt"/>
              <a:buAutoNum type="arabicPeriod"/>
            </a:pPr>
            <a:r>
              <a:rPr lang="en-US" dirty="0"/>
              <a:t>Ý </a:t>
            </a:r>
            <a:r>
              <a:rPr lang="en-US" dirty="0" err="1"/>
              <a:t>tưởng</a:t>
            </a:r>
            <a:r>
              <a:rPr lang="en-US" dirty="0"/>
              <a:t> </a:t>
            </a:r>
            <a:r>
              <a:rPr lang="en-US" dirty="0" err="1"/>
              <a:t>chính</a:t>
            </a:r>
            <a:r>
              <a:rPr lang="en-US" dirty="0"/>
              <a:t> </a:t>
            </a:r>
            <a:r>
              <a:rPr lang="en-US" dirty="0" err="1"/>
              <a:t>của</a:t>
            </a:r>
            <a:r>
              <a:rPr lang="en-US" dirty="0"/>
              <a:t> </a:t>
            </a:r>
            <a:r>
              <a:rPr lang="en-US" dirty="0" err="1"/>
              <a:t>lập</a:t>
            </a:r>
            <a:r>
              <a:rPr lang="en-US" dirty="0"/>
              <a:t> </a:t>
            </a:r>
            <a:r>
              <a:rPr lang="en-US" dirty="0" err="1"/>
              <a:t>trình</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có</a:t>
            </a:r>
            <a:r>
              <a:rPr lang="en-US" dirty="0"/>
              <a:t> 1 </a:t>
            </a:r>
            <a:r>
              <a:rPr lang="en-US" dirty="0" err="1"/>
              <a:t>bài</a:t>
            </a:r>
            <a:r>
              <a:rPr lang="en-US" dirty="0"/>
              <a:t> </a:t>
            </a:r>
            <a:r>
              <a:rPr lang="en-US" dirty="0" err="1"/>
              <a:t>toán</a:t>
            </a:r>
            <a:r>
              <a:rPr lang="en-US" dirty="0"/>
              <a:t> </a:t>
            </a:r>
            <a:r>
              <a:rPr lang="en-US" dirty="0" err="1"/>
              <a:t>rất</a:t>
            </a:r>
            <a:r>
              <a:rPr lang="en-US" dirty="0"/>
              <a:t> </a:t>
            </a:r>
            <a:r>
              <a:rPr lang="en-US" dirty="0" err="1"/>
              <a:t>quen</a:t>
            </a:r>
            <a:r>
              <a:rPr lang="en-US" dirty="0"/>
              <a:t> </a:t>
            </a:r>
            <a:r>
              <a:rPr lang="en-US" dirty="0" err="1"/>
              <a:t>thuộc</a:t>
            </a:r>
            <a:r>
              <a:rPr lang="en-US" dirty="0"/>
              <a:t> </a:t>
            </a:r>
            <a:r>
              <a:rPr lang="en-US" dirty="0" err="1"/>
              <a:t>và</a:t>
            </a:r>
            <a:r>
              <a:rPr lang="en-US" dirty="0"/>
              <a:t> </a:t>
            </a:r>
            <a:r>
              <a:rPr lang="en-US" dirty="0" err="1"/>
              <a:t>thực</a:t>
            </a:r>
            <a:r>
              <a:rPr lang="en-US" dirty="0"/>
              <a:t> </a:t>
            </a:r>
            <a:r>
              <a:rPr lang="en-US" dirty="0" err="1"/>
              <a:t>tế</a:t>
            </a:r>
            <a:r>
              <a:rPr lang="en-US" dirty="0"/>
              <a:t> </a:t>
            </a:r>
            <a:r>
              <a:rPr lang="en-US" dirty="0" err="1"/>
              <a:t>cho</a:t>
            </a:r>
            <a:r>
              <a:rPr lang="en-US" dirty="0"/>
              <a:t> </a:t>
            </a:r>
            <a:r>
              <a:rPr lang="en-US" dirty="0" err="1"/>
              <a:t>vấn</a:t>
            </a:r>
            <a:r>
              <a:rPr lang="en-US" dirty="0"/>
              <a:t> </a:t>
            </a:r>
            <a:r>
              <a:rPr lang="en-US" dirty="0" err="1"/>
              <a:t>đề</a:t>
            </a:r>
            <a:r>
              <a:rPr lang="en-US" dirty="0"/>
              <a:t> </a:t>
            </a:r>
            <a:r>
              <a:rPr lang="en-US" dirty="0" err="1"/>
              <a:t>này</a:t>
            </a:r>
            <a:r>
              <a:rPr lang="en-US" dirty="0"/>
              <a:t> </a:t>
            </a:r>
            <a:r>
              <a:rPr lang="en-US" dirty="0" err="1"/>
              <a:t>là</a:t>
            </a:r>
            <a:r>
              <a:rPr lang="en-US" dirty="0"/>
              <a:t> </a:t>
            </a:r>
            <a:r>
              <a:rPr lang="en-US" dirty="0" err="1"/>
              <a:t>bài</a:t>
            </a:r>
            <a:r>
              <a:rPr lang="en-US" dirty="0"/>
              <a:t> </a:t>
            </a:r>
            <a:r>
              <a:rPr lang="en-US" dirty="0" err="1"/>
              <a:t>toán</a:t>
            </a:r>
            <a:r>
              <a:rPr lang="en-US" dirty="0"/>
              <a:t> </a:t>
            </a:r>
            <a:r>
              <a:rPr lang="en-US" dirty="0" err="1"/>
              <a:t>nấu</a:t>
            </a:r>
            <a:r>
              <a:rPr lang="en-US" dirty="0"/>
              <a:t> </a:t>
            </a:r>
            <a:r>
              <a:rPr lang="en-US" dirty="0" err="1"/>
              <a:t>ăn</a:t>
            </a:r>
            <a:r>
              <a:rPr lang="en-US" dirty="0"/>
              <a:t>. </a:t>
            </a:r>
            <a:r>
              <a:rPr lang="en-US" dirty="0" err="1"/>
              <a:t>Có</a:t>
            </a:r>
            <a:r>
              <a:rPr lang="en-US" dirty="0"/>
              <a:t> 1 </a:t>
            </a:r>
            <a:r>
              <a:rPr lang="en-US" dirty="0" err="1"/>
              <a:t>đầu</a:t>
            </a:r>
            <a:r>
              <a:rPr lang="en-US" dirty="0"/>
              <a:t> </a:t>
            </a:r>
            <a:r>
              <a:rPr lang="en-US" dirty="0" err="1"/>
              <a:t>bếp</a:t>
            </a:r>
            <a:r>
              <a:rPr lang="en-US" dirty="0"/>
              <a:t> …</a:t>
            </a:r>
          </a:p>
          <a:p>
            <a:pPr marL="228600" indent="-228600">
              <a:buFont typeface="+mj-lt"/>
              <a:buAutoNum type="arabicPeriod"/>
            </a:pPr>
            <a:endParaRPr lang="en-US" dirty="0"/>
          </a:p>
        </p:txBody>
      </p:sp>
      <p:sp>
        <p:nvSpPr>
          <p:cNvPr id="4" name="Slide Number Placeholder 3">
            <a:extLst>
              <a:ext uri="{FF2B5EF4-FFF2-40B4-BE49-F238E27FC236}">
                <a16:creationId xmlns:a16="http://schemas.microsoft.com/office/drawing/2014/main" id="{2E99F1CB-9B60-D63C-1DBE-89841AE1874C}"/>
              </a:ext>
            </a:extLst>
          </p:cNvPr>
          <p:cNvSpPr>
            <a:spLocks noGrp="1"/>
          </p:cNvSpPr>
          <p:nvPr>
            <p:ph type="sldNum" sz="quarter" idx="5"/>
          </p:nvPr>
        </p:nvSpPr>
        <p:spPr/>
        <p:txBody>
          <a:bodyPr/>
          <a:lstStyle/>
          <a:p>
            <a:fld id="{520FF826-09D7-4BFB-A6F2-AAC85BBDF987}" type="slidenum">
              <a:rPr lang="en-US" smtClean="0"/>
              <a:t>4</a:t>
            </a:fld>
            <a:endParaRPr lang="en-US"/>
          </a:p>
        </p:txBody>
      </p:sp>
    </p:spTree>
    <p:extLst>
      <p:ext uri="{BB962C8B-B14F-4D97-AF65-F5344CB8AC3E}">
        <p14:creationId xmlns:p14="http://schemas.microsoft.com/office/powerpoint/2010/main" val="1084163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4612-B605-D128-D58F-02EEFC311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1A898-E2B6-22ED-1863-9F1C74738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0AF4C-FB33-9167-E8A5-3CB96124D994}"/>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Can easily cause deadlocks if misused =&gt; show </a:t>
            </a:r>
            <a:r>
              <a:rPr lang="en-US" dirty="0" err="1"/>
              <a:t>ví</a:t>
            </a:r>
            <a:r>
              <a:rPr lang="en-US" dirty="0"/>
              <a:t> </a:t>
            </a:r>
            <a:r>
              <a:rPr lang="en-US" dirty="0" err="1"/>
              <a:t>dụ</a:t>
            </a: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p:txBody>
      </p:sp>
      <p:sp>
        <p:nvSpPr>
          <p:cNvPr id="4" name="Slide Number Placeholder 3">
            <a:extLst>
              <a:ext uri="{FF2B5EF4-FFF2-40B4-BE49-F238E27FC236}">
                <a16:creationId xmlns:a16="http://schemas.microsoft.com/office/drawing/2014/main" id="{F9D3E358-31DA-1788-9EB5-2CD8BD48E21D}"/>
              </a:ext>
            </a:extLst>
          </p:cNvPr>
          <p:cNvSpPr>
            <a:spLocks noGrp="1"/>
          </p:cNvSpPr>
          <p:nvPr>
            <p:ph type="sldNum" sz="quarter" idx="5"/>
          </p:nvPr>
        </p:nvSpPr>
        <p:spPr/>
        <p:txBody>
          <a:bodyPr/>
          <a:lstStyle/>
          <a:p>
            <a:fld id="{520FF826-09D7-4BFB-A6F2-AAC85BBDF987}" type="slidenum">
              <a:rPr lang="en-US" smtClean="0"/>
              <a:t>5</a:t>
            </a:fld>
            <a:endParaRPr lang="en-US"/>
          </a:p>
        </p:txBody>
      </p:sp>
    </p:spTree>
    <p:extLst>
      <p:ext uri="{BB962C8B-B14F-4D97-AF65-F5344CB8AC3E}">
        <p14:creationId xmlns:p14="http://schemas.microsoft.com/office/powerpoint/2010/main" val="650674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F34C5-86EC-ACE2-2085-7AD88E94C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83E57-1AFA-ECFB-F6D8-3EF9D6426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820BD4-FF59-EDE0-2C99-EBF22C7647B1}"/>
              </a:ext>
            </a:extLst>
          </p:cNvPr>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hlinkClick r:id="rId3"/>
              </a:rPr>
              <a:t>Task</a:t>
            </a:r>
            <a:r>
              <a:rPr lang="en-US" sz="1200" b="0" i="0" kern="1200" dirty="0">
                <a:solidFill>
                  <a:schemeClr val="tx1"/>
                </a:solidFill>
                <a:effectLst/>
                <a:latin typeface="+mn-lt"/>
                <a:ea typeface="+mn-ea"/>
                <a:cs typeface="+mn-cs"/>
              </a:rPr>
              <a:t>, for an async method that performs an operation but returns no value.</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hlinkClick r:id="rId4"/>
              </a:rPr>
              <a:t>Task&lt;</a:t>
            </a:r>
            <a:r>
              <a:rPr lang="en-US" sz="1200" b="0" i="0" u="none" strike="noStrike" kern="1200" dirty="0" err="1">
                <a:solidFill>
                  <a:schemeClr val="tx1"/>
                </a:solidFill>
                <a:effectLst/>
                <a:latin typeface="+mn-lt"/>
                <a:ea typeface="+mn-ea"/>
                <a:cs typeface="+mn-cs"/>
                <a:hlinkClick r:id="rId4"/>
              </a:rPr>
              <a:t>TResult</a:t>
            </a:r>
            <a:r>
              <a:rPr lang="en-US" sz="1200" b="0" i="0" u="none" strike="noStrike" kern="1200" dirty="0">
                <a:solidFill>
                  <a:schemeClr val="tx1"/>
                </a:solidFill>
                <a:effectLst/>
                <a:latin typeface="+mn-lt"/>
                <a:ea typeface="+mn-ea"/>
                <a:cs typeface="+mn-cs"/>
                <a:hlinkClick r:id="rId4"/>
              </a:rPr>
              <a:t>&gt;</a:t>
            </a:r>
            <a:r>
              <a:rPr lang="en-US" sz="1200" b="0" i="0" kern="1200" dirty="0">
                <a:solidFill>
                  <a:schemeClr val="tx1"/>
                </a:solidFill>
                <a:effectLst/>
                <a:latin typeface="+mn-lt"/>
                <a:ea typeface="+mn-ea"/>
                <a:cs typeface="+mn-cs"/>
              </a:rPr>
              <a:t>, for an async method that returns a value.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void, for an event handler.</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Any type that has an accessible </a:t>
            </a:r>
            <a:r>
              <a:rPr lang="en-US" sz="1200" b="0" i="0" kern="1200" dirty="0" err="1">
                <a:solidFill>
                  <a:schemeClr val="tx1"/>
                </a:solidFill>
                <a:effectLst/>
                <a:latin typeface="+mn-lt"/>
                <a:ea typeface="+mn-ea"/>
                <a:cs typeface="+mn-cs"/>
              </a:rPr>
              <a:t>GetAwaiter</a:t>
            </a:r>
            <a:r>
              <a:rPr lang="en-US" sz="1200" b="0" i="0" kern="1200" dirty="0">
                <a:solidFill>
                  <a:schemeClr val="tx1"/>
                </a:solidFill>
                <a:effectLst/>
                <a:latin typeface="+mn-lt"/>
                <a:ea typeface="+mn-ea"/>
                <a:cs typeface="+mn-cs"/>
              </a:rPr>
              <a:t> method. The object returned by the </a:t>
            </a:r>
            <a:r>
              <a:rPr lang="en-US" sz="1200" b="0" i="0" kern="1200" dirty="0" err="1">
                <a:solidFill>
                  <a:schemeClr val="tx1"/>
                </a:solidFill>
                <a:effectLst/>
                <a:latin typeface="+mn-lt"/>
                <a:ea typeface="+mn-ea"/>
                <a:cs typeface="+mn-cs"/>
              </a:rPr>
              <a:t>GetAwaiter</a:t>
            </a:r>
            <a:r>
              <a:rPr lang="en-US" sz="1200" b="0" i="0" kern="1200" dirty="0">
                <a:solidFill>
                  <a:schemeClr val="tx1"/>
                </a:solidFill>
                <a:effectLst/>
                <a:latin typeface="+mn-lt"/>
                <a:ea typeface="+mn-ea"/>
                <a:cs typeface="+mn-cs"/>
              </a:rPr>
              <a:t> method must implement the </a:t>
            </a:r>
            <a:r>
              <a:rPr lang="en-US" sz="1200" b="0" i="0" u="none" strike="noStrike" kern="1200" dirty="0" err="1">
                <a:solidFill>
                  <a:schemeClr val="tx1"/>
                </a:solidFill>
                <a:effectLst/>
                <a:latin typeface="+mn-lt"/>
                <a:ea typeface="+mn-ea"/>
                <a:cs typeface="+mn-cs"/>
                <a:hlinkClick r:id="rId5"/>
              </a:rPr>
              <a:t>System.Runtime.CompilerServices.ICriticalNotifyCompletion</a:t>
            </a:r>
            <a:r>
              <a:rPr lang="en-US" sz="1200" b="0" i="0" kern="1200" dirty="0">
                <a:solidFill>
                  <a:schemeClr val="tx1"/>
                </a:solidFill>
                <a:effectLst/>
                <a:latin typeface="+mn-lt"/>
                <a:ea typeface="+mn-ea"/>
                <a:cs typeface="+mn-cs"/>
              </a:rPr>
              <a:t> interface.</a:t>
            </a:r>
          </a:p>
          <a:p>
            <a:pPr marL="171450" indent="-171450">
              <a:buFont typeface="Arial" panose="020B0604020202020204" pitchFamily="34" charset="0"/>
              <a:buChar char="•"/>
            </a:pPr>
            <a:r>
              <a:rPr lang="en-US" sz="1200" b="0" i="0" u="none" strike="noStrike" kern="1200" dirty="0" err="1">
                <a:solidFill>
                  <a:schemeClr val="tx1"/>
                </a:solidFill>
                <a:effectLst/>
                <a:latin typeface="+mn-lt"/>
                <a:ea typeface="+mn-ea"/>
                <a:cs typeface="+mn-cs"/>
                <a:hlinkClick r:id="rId6"/>
              </a:rPr>
              <a:t>IAsyncEnumerable</a:t>
            </a:r>
            <a:r>
              <a:rPr lang="en-US" sz="1200" b="0" i="0" u="none" strike="noStrike" kern="1200" dirty="0">
                <a:solidFill>
                  <a:schemeClr val="tx1"/>
                </a:solidFill>
                <a:effectLst/>
                <a:latin typeface="+mn-lt"/>
                <a:ea typeface="+mn-ea"/>
                <a:cs typeface="+mn-cs"/>
                <a:hlinkClick r:id="rId6"/>
              </a:rPr>
              <a:t>&lt;T&gt;</a:t>
            </a:r>
            <a:r>
              <a:rPr lang="en-US" sz="1200" b="0" i="0" kern="1200" dirty="0">
                <a:solidFill>
                  <a:schemeClr val="tx1"/>
                </a:solidFill>
                <a:effectLst/>
                <a:latin typeface="+mn-lt"/>
                <a:ea typeface="+mn-ea"/>
                <a:cs typeface="+mn-cs"/>
              </a:rPr>
              <a:t>, for an async method that returns an </a:t>
            </a:r>
            <a:r>
              <a:rPr lang="en-US" sz="1200" b="0" i="1" kern="1200" dirty="0">
                <a:solidFill>
                  <a:schemeClr val="tx1"/>
                </a:solidFill>
                <a:effectLst/>
                <a:latin typeface="+mn-lt"/>
                <a:ea typeface="+mn-ea"/>
                <a:cs typeface="+mn-cs"/>
              </a:rPr>
              <a:t>async stream</a:t>
            </a:r>
            <a:r>
              <a:rPr lang="en-US" sz="1200" b="0" i="0" kern="1200" dirty="0">
                <a:solidFill>
                  <a:schemeClr val="tx1"/>
                </a:solidFill>
                <a:effectLst/>
                <a:latin typeface="+mn-lt"/>
                <a:ea typeface="+mn-ea"/>
                <a:cs typeface="+mn-cs"/>
              </a:rPr>
              <a:t>.</a:t>
            </a:r>
          </a:p>
          <a:p>
            <a:pPr marL="0" indent="0">
              <a:buFont typeface="Arial" panose="020B0604020202020204" pitchFamily="34" charset="0"/>
              <a:buNone/>
            </a:pPr>
            <a:br>
              <a:rPr lang="en-US" b="1" dirty="0"/>
            </a:br>
            <a:br>
              <a:rPr lang="en-US" b="1" dirty="0"/>
            </a:br>
            <a:br>
              <a:rPr lang="en-US" b="1" dirty="0"/>
            </a:br>
            <a:r>
              <a:rPr lang="vi-VN" b="1" dirty="0"/>
              <a:t>Nội dung chính nên trình bày về Async Return Types</a:t>
            </a:r>
          </a:p>
          <a:p>
            <a:r>
              <a:rPr lang="vi-VN" b="1" dirty="0"/>
              <a:t>Các kiểu trả về chuẩn (core)</a:t>
            </a:r>
            <a:endParaRPr lang="vi-VN" dirty="0"/>
          </a:p>
          <a:p>
            <a:pPr lvl="1"/>
            <a:r>
              <a:rPr lang="vi-VN" sz="1200" kern="1200" dirty="0">
                <a:solidFill>
                  <a:schemeClr val="tx1"/>
                </a:solidFill>
                <a:latin typeface="+mn-lt"/>
                <a:ea typeface="+mn-ea"/>
                <a:cs typeface="+mn-cs"/>
              </a:rPr>
              <a:t>Task</a:t>
            </a:r>
            <a:r>
              <a:rPr lang="vi-VN" dirty="0"/>
              <a:t> — dùng khi async method </a:t>
            </a:r>
            <a:r>
              <a:rPr lang="vi-VN" b="1" dirty="0"/>
              <a:t>không trả về giá trị</a:t>
            </a:r>
            <a:r>
              <a:rPr lang="vi-VN" dirty="0"/>
              <a:t>. </a:t>
            </a:r>
            <a:r>
              <a:rPr lang="vi-VN" dirty="0">
                <a:hlinkClick r:id="rId7"/>
              </a:rPr>
              <a:t>Microsoft Learn</a:t>
            </a:r>
            <a:endParaRPr lang="vi-VN" dirty="0"/>
          </a:p>
          <a:p>
            <a:pPr lvl="1"/>
            <a:r>
              <a:rPr lang="vi-VN" sz="1200" kern="1200" dirty="0">
                <a:solidFill>
                  <a:schemeClr val="tx1"/>
                </a:solidFill>
                <a:latin typeface="+mn-lt"/>
                <a:ea typeface="+mn-ea"/>
                <a:cs typeface="+mn-cs"/>
              </a:rPr>
              <a:t>Task&lt;TResult&gt;</a:t>
            </a:r>
            <a:r>
              <a:rPr lang="vi-VN" dirty="0"/>
              <a:t> — dùng khi async method </a:t>
            </a:r>
            <a:r>
              <a:rPr lang="vi-VN" b="1" dirty="0"/>
              <a:t>trả về giá trị kiểu T</a:t>
            </a:r>
            <a:r>
              <a:rPr lang="vi-VN" dirty="0"/>
              <a:t>. </a:t>
            </a:r>
            <a:r>
              <a:rPr lang="vi-VN" dirty="0">
                <a:hlinkClick r:id="rId7"/>
              </a:rPr>
              <a:t>Microsoft Learn</a:t>
            </a:r>
            <a:endParaRPr lang="vi-VN" dirty="0"/>
          </a:p>
          <a:p>
            <a:pPr lvl="1"/>
            <a:r>
              <a:rPr lang="vi-VN" sz="1200" kern="1200" dirty="0">
                <a:solidFill>
                  <a:schemeClr val="tx1"/>
                </a:solidFill>
                <a:latin typeface="+mn-lt"/>
                <a:ea typeface="+mn-ea"/>
                <a:cs typeface="+mn-cs"/>
              </a:rPr>
              <a:t>void</a:t>
            </a:r>
            <a:r>
              <a:rPr lang="vi-VN" dirty="0"/>
              <a:t> — chỉ dùng cho các </a:t>
            </a:r>
            <a:r>
              <a:rPr lang="vi-VN" b="1" dirty="0"/>
              <a:t>event handler</a:t>
            </a:r>
            <a:r>
              <a:rPr lang="vi-VN" dirty="0"/>
              <a:t>. </a:t>
            </a:r>
            <a:r>
              <a:rPr lang="vi-VN" dirty="0">
                <a:hlinkClick r:id="rId7"/>
              </a:rPr>
              <a:t>Microsoft Learn</a:t>
            </a:r>
            <a:endParaRPr lang="vi-VN" dirty="0"/>
          </a:p>
          <a:p>
            <a:r>
              <a:rPr lang="vi-VN" b="1" dirty="0"/>
              <a:t>Kiểu trả về nâng cao / tổng quát (generalized)</a:t>
            </a:r>
            <a:endParaRPr lang="vi-VN" dirty="0"/>
          </a:p>
          <a:p>
            <a:pPr lvl="1"/>
            <a:r>
              <a:rPr lang="vi-VN" dirty="0"/>
              <a:t>Các async method có thể trả về bất kỳ kiểu nào có </a:t>
            </a:r>
            <a:r>
              <a:rPr lang="vi-VN" sz="1200" kern="1200" dirty="0">
                <a:solidFill>
                  <a:schemeClr val="tx1"/>
                </a:solidFill>
                <a:latin typeface="+mn-lt"/>
                <a:ea typeface="+mn-ea"/>
                <a:cs typeface="+mn-cs"/>
              </a:rPr>
              <a:t>GetAwaiter()</a:t>
            </a:r>
            <a:r>
              <a:rPr lang="vi-VN" dirty="0"/>
              <a:t> công khai. </a:t>
            </a:r>
            <a:r>
              <a:rPr lang="vi-VN" dirty="0">
                <a:hlinkClick r:id="rId7"/>
              </a:rPr>
              <a:t>Microsoft Learn</a:t>
            </a:r>
            <a:endParaRPr lang="vi-VN" dirty="0"/>
          </a:p>
          <a:p>
            <a:pPr lvl="1"/>
            <a:r>
              <a:rPr lang="vi-VN" dirty="0"/>
              <a:t>Ví dụ nổi bật: </a:t>
            </a:r>
            <a:r>
              <a:rPr lang="vi-VN" sz="1200" kern="1200" dirty="0">
                <a:solidFill>
                  <a:schemeClr val="tx1"/>
                </a:solidFill>
                <a:latin typeface="+mn-lt"/>
                <a:ea typeface="+mn-ea"/>
                <a:cs typeface="+mn-cs"/>
              </a:rPr>
              <a:t>ValueTask&lt;TResult&gt;</a:t>
            </a:r>
            <a:r>
              <a:rPr lang="vi-VN" dirty="0"/>
              <a:t> — là một struct “nhẹ hơn” Task, giúp tối ưu hiệu suất khi cần tránh việc cấp phát nhiều Task. </a:t>
            </a:r>
            <a:r>
              <a:rPr lang="vi-VN" dirty="0">
                <a:hlinkClick r:id="rId8"/>
              </a:rPr>
              <a:t>Microsoft Learn+1</a:t>
            </a:r>
            <a:endParaRPr lang="vi-VN" dirty="0"/>
          </a:p>
          <a:p>
            <a:pPr lvl="1"/>
            <a:r>
              <a:rPr lang="vi-VN" dirty="0"/>
              <a:t>Lưu ý: đây là scenario nâng cao, dùng khi performance-critical. </a:t>
            </a:r>
            <a:r>
              <a:rPr lang="vi-VN" dirty="0">
                <a:hlinkClick r:id="rId8"/>
              </a:rPr>
              <a:t>Microsoft Learn</a:t>
            </a:r>
            <a:endParaRPr lang="vi-VN" dirty="0"/>
          </a:p>
          <a:p>
            <a:r>
              <a:rPr lang="vi-VN" b="1" dirty="0"/>
              <a:t>Async streams</a:t>
            </a:r>
            <a:endParaRPr lang="vi-VN" dirty="0"/>
          </a:p>
          <a:p>
            <a:pPr lvl="1"/>
            <a:r>
              <a:rPr lang="vi-VN" sz="1200" kern="1200" dirty="0">
                <a:solidFill>
                  <a:schemeClr val="tx1"/>
                </a:solidFill>
                <a:latin typeface="+mn-lt"/>
                <a:ea typeface="+mn-ea"/>
                <a:cs typeface="+mn-cs"/>
              </a:rPr>
              <a:t>IAsyncEnumerable&lt;T&gt;</a:t>
            </a:r>
            <a:r>
              <a:rPr lang="vi-VN" dirty="0"/>
              <a:t> — dùng khi async method trả về </a:t>
            </a:r>
            <a:r>
              <a:rPr lang="vi-VN" b="1" dirty="0"/>
              <a:t>luồng dữ liệu bất đồng bộ</a:t>
            </a:r>
            <a:r>
              <a:rPr lang="vi-VN" dirty="0"/>
              <a:t> (“async stream”). </a:t>
            </a:r>
            <a:r>
              <a:rPr lang="vi-VN" dirty="0">
                <a:hlinkClick r:id="rId7"/>
              </a:rPr>
              <a:t>Microsoft Learn</a:t>
            </a:r>
            <a:endParaRPr lang="vi-VN" dirty="0"/>
          </a:p>
          <a:p>
            <a:pPr lvl="1"/>
            <a:r>
              <a:rPr lang="vi-VN" dirty="0"/>
              <a:t>Khi dùng </a:t>
            </a:r>
            <a:r>
              <a:rPr lang="vi-VN" sz="1200" kern="1200" dirty="0">
                <a:solidFill>
                  <a:schemeClr val="tx1"/>
                </a:solidFill>
                <a:latin typeface="+mn-lt"/>
                <a:ea typeface="+mn-ea"/>
                <a:cs typeface="+mn-cs"/>
              </a:rPr>
              <a:t>IAsyncEnumerable&lt;T&gt;</a:t>
            </a:r>
            <a:r>
              <a:rPr lang="vi-VN" dirty="0"/>
              <a:t>, caller sử dụng </a:t>
            </a:r>
            <a:r>
              <a:rPr lang="vi-VN" sz="1200" kern="1200" dirty="0">
                <a:solidFill>
                  <a:schemeClr val="tx1"/>
                </a:solidFill>
                <a:latin typeface="+mn-lt"/>
                <a:ea typeface="+mn-ea"/>
                <a:cs typeface="+mn-cs"/>
              </a:rPr>
              <a:t>await foreach</a:t>
            </a:r>
            <a:r>
              <a:rPr lang="vi-VN" dirty="0"/>
              <a:t> để lặp qua các phần tử bất đồng bộ. </a:t>
            </a:r>
            <a:r>
              <a:rPr lang="vi-VN" dirty="0">
                <a:hlinkClick r:id="rId7"/>
              </a:rPr>
              <a:t>Microsoft Learn</a:t>
            </a:r>
            <a:endParaRPr lang="vi-VN" dirty="0"/>
          </a:p>
          <a:p>
            <a:r>
              <a:rPr lang="vi-VN" b="1" dirty="0"/>
              <a:t>Kiểu trả về đặc thù cho Windows / UWP</a:t>
            </a:r>
            <a:endParaRPr lang="vi-VN" dirty="0"/>
          </a:p>
          <a:p>
            <a:pPr lvl="1"/>
            <a:r>
              <a:rPr lang="vi-VN" dirty="0"/>
              <a:t>Ngoài các kiểu phổ biến ở .NET Core / .NET, còn có các kiểu trả về async dành riêng cho UWP hoặc Windows Runtime: như </a:t>
            </a:r>
            <a:r>
              <a:rPr lang="vi-VN" sz="1200" kern="1200" dirty="0">
                <a:solidFill>
                  <a:schemeClr val="tx1"/>
                </a:solidFill>
                <a:latin typeface="+mn-lt"/>
                <a:ea typeface="+mn-ea"/>
                <a:cs typeface="+mn-cs"/>
              </a:rPr>
              <a:t>IAsyncAction</a:t>
            </a:r>
            <a:r>
              <a:rPr lang="vi-VN" dirty="0"/>
              <a:t>, </a:t>
            </a:r>
            <a:r>
              <a:rPr lang="vi-VN" sz="1200" kern="1200" dirty="0">
                <a:solidFill>
                  <a:schemeClr val="tx1"/>
                </a:solidFill>
                <a:latin typeface="+mn-lt"/>
                <a:ea typeface="+mn-ea"/>
                <a:cs typeface="+mn-cs"/>
              </a:rPr>
              <a:t>IAsyncOperation&lt;TResult&gt;</a:t>
            </a:r>
            <a:r>
              <a:rPr lang="vi-VN" dirty="0"/>
              <a:t>, và dạng có progress (</a:t>
            </a:r>
            <a:r>
              <a:rPr lang="vi-VN" sz="1200" kern="1200" dirty="0">
                <a:solidFill>
                  <a:schemeClr val="tx1"/>
                </a:solidFill>
                <a:latin typeface="+mn-lt"/>
                <a:ea typeface="+mn-ea"/>
                <a:cs typeface="+mn-cs"/>
              </a:rPr>
              <a:t>IAsyncOperationWithProgress&lt;,&gt;</a:t>
            </a:r>
            <a:r>
              <a:rPr lang="vi-VN" dirty="0"/>
              <a:t>) </a:t>
            </a:r>
            <a:r>
              <a:rPr lang="vi-VN" dirty="0">
                <a:hlinkClick r:id="rId7"/>
              </a:rPr>
              <a:t>Microsoft Learn</a:t>
            </a:r>
            <a:endParaRPr lang="vi-VN" dirty="0"/>
          </a:p>
          <a:p>
            <a:pPr lvl="1"/>
            <a:r>
              <a:rPr lang="vi-VN" dirty="0"/>
              <a:t>Cần nhắc nếu audience của bạn làm Windows app hoặc UWP — đây là phần rất “thực dụng”.</a:t>
            </a:r>
          </a:p>
          <a:p>
            <a:r>
              <a:rPr lang="vi-VN" b="1" dirty="0"/>
              <a:t>Rủi ro / hạn chế khi dùng async return types</a:t>
            </a:r>
            <a:endParaRPr lang="vi-VN" dirty="0"/>
          </a:p>
          <a:p>
            <a:pPr lvl="1"/>
            <a:r>
              <a:rPr lang="vi-VN" dirty="0"/>
              <a:t>Nếu dùng </a:t>
            </a:r>
            <a:r>
              <a:rPr lang="vi-VN" sz="1200" kern="1200" dirty="0">
                <a:solidFill>
                  <a:schemeClr val="tx1"/>
                </a:solidFill>
                <a:latin typeface="+mn-lt"/>
                <a:ea typeface="+mn-ea"/>
                <a:cs typeface="+mn-cs"/>
              </a:rPr>
              <a:t>async void</a:t>
            </a:r>
            <a:r>
              <a:rPr lang="vi-VN" dirty="0"/>
              <a:t> (trả </a:t>
            </a:r>
            <a:r>
              <a:rPr lang="vi-VN" sz="1200" kern="1200" dirty="0">
                <a:solidFill>
                  <a:schemeClr val="tx1"/>
                </a:solidFill>
                <a:latin typeface="+mn-lt"/>
                <a:ea typeface="+mn-ea"/>
                <a:cs typeface="+mn-cs"/>
              </a:rPr>
              <a:t>void</a:t>
            </a:r>
            <a:r>
              <a:rPr lang="vi-VN" dirty="0"/>
              <a:t>), thì </a:t>
            </a:r>
            <a:r>
              <a:rPr lang="vi-VN" b="1" dirty="0"/>
              <a:t>không thể await</a:t>
            </a:r>
            <a:r>
              <a:rPr lang="vi-VN" dirty="0"/>
              <a:t> và </a:t>
            </a:r>
            <a:r>
              <a:rPr lang="vi-VN" b="1" dirty="0"/>
              <a:t>khó bắt exception</a:t>
            </a:r>
            <a:r>
              <a:rPr lang="vi-VN" dirty="0"/>
              <a:t> → nên tránh trừ trường hợp event handler. </a:t>
            </a:r>
            <a:r>
              <a:rPr lang="vi-VN" dirty="0">
                <a:hlinkClick r:id="rId7"/>
              </a:rPr>
              <a:t>Microsoft Learn</a:t>
            </a:r>
            <a:endParaRPr lang="vi-VN" dirty="0"/>
          </a:p>
          <a:p>
            <a:pPr lvl="1"/>
            <a:r>
              <a:rPr lang="vi-VN" dirty="0"/>
              <a:t>Khi dùng </a:t>
            </a:r>
            <a:r>
              <a:rPr lang="vi-VN" sz="1200" kern="1200" dirty="0">
                <a:solidFill>
                  <a:schemeClr val="tx1"/>
                </a:solidFill>
                <a:latin typeface="+mn-lt"/>
                <a:ea typeface="+mn-ea"/>
                <a:cs typeface="+mn-cs"/>
              </a:rPr>
              <a:t>ValueTask&lt;TResult&gt;</a:t>
            </a:r>
            <a:r>
              <a:rPr lang="vi-VN" dirty="0"/>
              <a:t>: nó nhẹ hơn Task, nhưng </a:t>
            </a:r>
            <a:r>
              <a:rPr lang="vi-VN" b="1" dirty="0"/>
              <a:t>có những caveat</a:t>
            </a:r>
            <a:r>
              <a:rPr lang="vi-VN" dirty="0"/>
              <a:t> (ví dụ: chỉ nên await một lần hoặc convert sang Task nếu cần nhiều lần). (Microsoft cũng khuyến nghị “use Task, Task&lt;T&gt;, ValueTask&lt;T&gt; phổ biến hơn”) </a:t>
            </a:r>
            <a:r>
              <a:rPr lang="vi-VN" dirty="0">
                <a:hlinkClick r:id="rId8"/>
              </a:rPr>
              <a:t>Microsoft Learn+1</a:t>
            </a:r>
            <a:endParaRPr lang="vi-VN" dirty="0"/>
          </a:p>
          <a:p>
            <a:pPr lvl="1"/>
            <a:r>
              <a:rPr lang="vi-VN" dirty="0"/>
              <a:t>Nếu tạo các loại trả về tùy chỉnh khác (có GetAwaiter), cần hiểu cách compiler hoạt động — không đơn giản như Task.</a:t>
            </a:r>
          </a:p>
          <a:p>
            <a:r>
              <a:rPr lang="vi-VN" b="1" dirty="0"/>
              <a:t>Quy ước đặt tên phương thức</a:t>
            </a:r>
            <a:endParaRPr lang="vi-VN" dirty="0"/>
          </a:p>
          <a:p>
            <a:pPr lvl="1"/>
            <a:r>
              <a:rPr lang="vi-VN" dirty="0"/>
              <a:t>Theo TAP (Task-based asynchronous programming), các async method thường được đặt tên kết thúc bằng “Async” (ví dụ: </a:t>
            </a:r>
            <a:r>
              <a:rPr lang="vi-VN" sz="1200" kern="1200" dirty="0">
                <a:solidFill>
                  <a:schemeClr val="tx1"/>
                </a:solidFill>
                <a:latin typeface="+mn-lt"/>
                <a:ea typeface="+mn-ea"/>
                <a:cs typeface="+mn-cs"/>
              </a:rPr>
              <a:t>GetDataAsync</a:t>
            </a:r>
            <a:r>
              <a:rPr lang="vi-VN" dirty="0"/>
              <a:t>) để biểu thị tính bất đồng bộ. </a:t>
            </a:r>
            <a:r>
              <a:rPr lang="vi-VN" dirty="0">
                <a:hlinkClick r:id="rId9"/>
              </a:rPr>
              <a:t>Microsoft Learn</a:t>
            </a:r>
            <a:endParaRPr lang="vi-VN" dirty="0"/>
          </a:p>
          <a:p>
            <a:pPr lvl="1"/>
            <a:r>
              <a:rPr lang="vi-VN" dirty="0"/>
              <a:t>Việc tuân theo quy ước này giúp code dễ đọc, dễ bảo trì.</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p:txBody>
      </p:sp>
      <p:sp>
        <p:nvSpPr>
          <p:cNvPr id="4" name="Slide Number Placeholder 3">
            <a:extLst>
              <a:ext uri="{FF2B5EF4-FFF2-40B4-BE49-F238E27FC236}">
                <a16:creationId xmlns:a16="http://schemas.microsoft.com/office/drawing/2014/main" id="{0DA96176-601D-7A5F-EAC6-2BFA9DE521FF}"/>
              </a:ext>
            </a:extLst>
          </p:cNvPr>
          <p:cNvSpPr>
            <a:spLocks noGrp="1"/>
          </p:cNvSpPr>
          <p:nvPr>
            <p:ph type="sldNum" sz="quarter" idx="5"/>
          </p:nvPr>
        </p:nvSpPr>
        <p:spPr/>
        <p:txBody>
          <a:bodyPr/>
          <a:lstStyle/>
          <a:p>
            <a:fld id="{520FF826-09D7-4BFB-A6F2-AAC85BBDF987}" type="slidenum">
              <a:rPr lang="en-US" smtClean="0"/>
              <a:t>6</a:t>
            </a:fld>
            <a:endParaRPr lang="en-US"/>
          </a:p>
        </p:txBody>
      </p:sp>
    </p:spTree>
    <p:extLst>
      <p:ext uri="{BB962C8B-B14F-4D97-AF65-F5344CB8AC3E}">
        <p14:creationId xmlns:p14="http://schemas.microsoft.com/office/powerpoint/2010/main" val="1814986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A4CB-8219-78C7-978B-962EC6BDE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E70BB-69D6-D586-6083-8901F877E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63804-9FA9-41A4-3F09-181A8A3094A2}"/>
              </a:ext>
            </a:extLst>
          </p:cNvPr>
          <p:cNvSpPr>
            <a:spLocks noGrp="1"/>
          </p:cNvSpPr>
          <p:nvPr>
            <p:ph type="body" idx="1"/>
          </p:nvPr>
        </p:nvSpPr>
        <p:spPr/>
        <p:txBody>
          <a:bodyPr/>
          <a:lstStyle/>
          <a:p>
            <a:pPr marL="0" indent="0">
              <a:buFont typeface="Arial" panose="020B0604020202020204" pitchFamily="34" charset="0"/>
              <a:buNone/>
            </a:pPr>
            <a:r>
              <a:rPr lang="en-US" sz="1200" b="1" kern="1200" dirty="0" err="1">
                <a:solidFill>
                  <a:schemeClr val="tx1"/>
                </a:solidFill>
                <a:latin typeface="+mn-lt"/>
                <a:ea typeface="+mn-ea"/>
                <a:cs typeface="+mn-cs"/>
              </a:rPr>
              <a:t>Ví</a:t>
            </a:r>
            <a:r>
              <a:rPr lang="en-US" sz="1200" b="1" kern="1200" dirty="0">
                <a:solidFill>
                  <a:schemeClr val="tx1"/>
                </a:solidFill>
                <a:latin typeface="+mn-lt"/>
                <a:ea typeface="+mn-ea"/>
                <a:cs typeface="+mn-cs"/>
              </a:rPr>
              <a:t> </a:t>
            </a:r>
            <a:r>
              <a:rPr lang="en-US" sz="1200" b="1" kern="1200" dirty="0" err="1">
                <a:solidFill>
                  <a:schemeClr val="tx1"/>
                </a:solidFill>
                <a:latin typeface="+mn-lt"/>
                <a:ea typeface="+mn-ea"/>
                <a:cs typeface="+mn-cs"/>
              </a:rPr>
              <a:t>dụ</a:t>
            </a:r>
            <a:r>
              <a:rPr lang="en-US" sz="1200" b="1" kern="1200" dirty="0">
                <a:solidFill>
                  <a:schemeClr val="tx1"/>
                </a:solidFill>
                <a:latin typeface="+mn-lt"/>
                <a:ea typeface="+mn-ea"/>
                <a:cs typeface="+mn-cs"/>
              </a:rPr>
              <a:t>:</a:t>
            </a:r>
          </a:p>
          <a:p>
            <a:pPr marL="171450" indent="-171450">
              <a:buFont typeface="Arial" panose="020B0604020202020204" pitchFamily="34" charset="0"/>
              <a:buChar char="•"/>
            </a:pPr>
            <a:r>
              <a:rPr lang="vi-VN" sz="1200" b="1" kern="1200" dirty="0">
                <a:solidFill>
                  <a:schemeClr val="tx1"/>
                </a:solidFill>
                <a:latin typeface="+mn-lt"/>
                <a:ea typeface="+mn-ea"/>
                <a:cs typeface="+mn-cs"/>
              </a:rPr>
              <a:t>CancellationTokenSource</a:t>
            </a:r>
            <a:r>
              <a:rPr lang="vi-VN" dirty="0"/>
              <a:t>: tạo token để quản lý hủy.</a:t>
            </a:r>
          </a:p>
          <a:p>
            <a:pPr marL="171450" indent="-171450">
              <a:buFont typeface="Arial" panose="020B0604020202020204" pitchFamily="34" charset="0"/>
              <a:buChar char="•"/>
            </a:pPr>
            <a:r>
              <a:rPr lang="vi-VN" sz="1200" b="1" kern="1200" dirty="0">
                <a:solidFill>
                  <a:schemeClr val="tx1"/>
                </a:solidFill>
                <a:latin typeface="+mn-lt"/>
                <a:ea typeface="+mn-ea"/>
                <a:cs typeface="+mn-cs"/>
              </a:rPr>
              <a:t>token.ThrowIfCancellationRequested()</a:t>
            </a:r>
            <a:r>
              <a:rPr lang="vi-VN" dirty="0"/>
              <a:t>: kiểm tra xem task có bị hủy chưa. Nếu có → ném </a:t>
            </a:r>
            <a:r>
              <a:rPr lang="vi-VN" sz="1200" b="1" kern="1200" dirty="0">
                <a:solidFill>
                  <a:schemeClr val="tx1"/>
                </a:solidFill>
                <a:latin typeface="+mn-lt"/>
                <a:ea typeface="+mn-ea"/>
                <a:cs typeface="+mn-cs"/>
              </a:rPr>
              <a:t>OperationCanceledException</a:t>
            </a:r>
            <a:r>
              <a:rPr lang="vi-VN" dirty="0"/>
              <a:t>.</a:t>
            </a:r>
          </a:p>
          <a:p>
            <a:pPr marL="171450" indent="-171450">
              <a:buFont typeface="Arial" panose="020B0604020202020204" pitchFamily="34" charset="0"/>
              <a:buChar char="•"/>
            </a:pPr>
            <a:r>
              <a:rPr lang="vi-VN" sz="1200" b="1" kern="1200" dirty="0">
                <a:solidFill>
                  <a:schemeClr val="tx1"/>
                </a:solidFill>
                <a:latin typeface="+mn-lt"/>
                <a:ea typeface="+mn-ea"/>
                <a:cs typeface="+mn-cs"/>
              </a:rPr>
              <a:t>cts.Cancel()</a:t>
            </a:r>
            <a:r>
              <a:rPr lang="vi-VN" dirty="0"/>
              <a:t>: gọi để </a:t>
            </a:r>
            <a:r>
              <a:rPr lang="vi-VN" b="1" dirty="0"/>
              <a:t>hủy task</a:t>
            </a:r>
            <a:r>
              <a:rPr lang="vi-VN" dirty="0"/>
              <a:t>.</a:t>
            </a:r>
          </a:p>
          <a:p>
            <a:pPr marL="171450" indent="-171450">
              <a:buFont typeface="Arial" panose="020B0604020202020204" pitchFamily="34" charset="0"/>
              <a:buChar char="•"/>
            </a:pPr>
            <a:r>
              <a:rPr lang="vi-VN" sz="1200" b="1" kern="1200" dirty="0">
                <a:solidFill>
                  <a:schemeClr val="tx1"/>
                </a:solidFill>
                <a:latin typeface="+mn-lt"/>
                <a:ea typeface="+mn-ea"/>
                <a:cs typeface="+mn-cs"/>
              </a:rPr>
              <a:t>try-catch</a:t>
            </a:r>
            <a:r>
              <a:rPr lang="vi-VN" dirty="0"/>
              <a:t>: bắt exception nếu task bị hủy.</a:t>
            </a:r>
          </a:p>
          <a:p>
            <a:r>
              <a:rPr lang="vi-VN" dirty="0"/>
              <a:t>Task có thể được </a:t>
            </a:r>
            <a:r>
              <a:rPr lang="vi-VN" b="1" dirty="0"/>
              <a:t>await</a:t>
            </a:r>
            <a:r>
              <a:rPr lang="vi-VN" dirty="0"/>
              <a:t> và </a:t>
            </a:r>
            <a:r>
              <a:rPr lang="vi-VN" b="1" dirty="0"/>
              <a:t>UI thread hoặc main thread không bị block</a:t>
            </a:r>
            <a:r>
              <a:rPr lang="vi-VN" dirty="0"/>
              <a:t>.</a:t>
            </a:r>
            <a:br>
              <a:rPr lang="en-US" dirty="0"/>
            </a:br>
            <a:br>
              <a:rPr lang="en-US" dirty="0"/>
            </a:br>
            <a:br>
              <a:rPr lang="en-US" dirty="0"/>
            </a:br>
            <a:r>
              <a:rPr lang="vi-VN" dirty="0"/>
              <a:t>Bắt đầu từ </a:t>
            </a:r>
            <a:r>
              <a:rPr lang="vi-VN" b="1" dirty="0"/>
              <a:t>.NET Framework 4</a:t>
            </a:r>
            <a:r>
              <a:rPr lang="vi-VN" dirty="0"/>
              <a:t>, .NET Framework sử dụng một </a:t>
            </a:r>
            <a:r>
              <a:rPr lang="vi-VN" b="1" dirty="0"/>
              <a:t>mô hình thống nhất</a:t>
            </a:r>
            <a:r>
              <a:rPr lang="vi-VN" dirty="0"/>
              <a:t> cho việc </a:t>
            </a:r>
            <a:r>
              <a:rPr lang="vi-VN" b="1" dirty="0"/>
              <a:t>hủy hợp tác (cooperative cancellation)</a:t>
            </a:r>
            <a:r>
              <a:rPr lang="vi-VN" dirty="0"/>
              <a:t> của các thao tác bất đồng bộ hoặc đồng bộ lâu, bao gồm </a:t>
            </a:r>
            <a:r>
              <a:rPr lang="vi-VN" b="1" dirty="0"/>
              <a:t>hai đối tượng</a:t>
            </a:r>
            <a:r>
              <a:rPr lang="vi-VN" dirty="0"/>
              <a:t>:</a:t>
            </a:r>
          </a:p>
          <a:p>
            <a:r>
              <a:rPr lang="vi-VN" sz="1200" b="1" kern="1200" dirty="0">
                <a:solidFill>
                  <a:schemeClr val="tx1"/>
                </a:solidFill>
                <a:latin typeface="+mn-lt"/>
                <a:ea typeface="+mn-ea"/>
                <a:cs typeface="+mn-cs"/>
              </a:rPr>
              <a:t>CancellationTokenSource</a:t>
            </a:r>
            <a:endParaRPr lang="vi-VN" dirty="0"/>
          </a:p>
          <a:p>
            <a:pPr lvl="1"/>
            <a:r>
              <a:rPr lang="vi-VN" dirty="0"/>
              <a:t>Cung cấp một </a:t>
            </a:r>
            <a:r>
              <a:rPr lang="vi-VN" b="1" dirty="0"/>
              <a:t>cancellation token</a:t>
            </a:r>
            <a:r>
              <a:rPr lang="vi-VN" dirty="0"/>
              <a:t> thông qua thuộc tính </a:t>
            </a:r>
            <a:r>
              <a:rPr lang="vi-VN" sz="1200" b="1" kern="1200" dirty="0">
                <a:solidFill>
                  <a:schemeClr val="tx1"/>
                </a:solidFill>
                <a:latin typeface="+mn-lt"/>
                <a:ea typeface="+mn-ea"/>
                <a:cs typeface="+mn-cs"/>
              </a:rPr>
              <a:t>Token</a:t>
            </a:r>
            <a:r>
              <a:rPr lang="vi-VN" dirty="0"/>
              <a:t>.</a:t>
            </a:r>
          </a:p>
          <a:p>
            <a:pPr lvl="1"/>
            <a:r>
              <a:rPr lang="vi-VN" dirty="0"/>
              <a:t>Gửi thông báo hủy bằng cách gọi phương thức </a:t>
            </a:r>
            <a:r>
              <a:rPr lang="vi-VN" sz="1200" b="1" kern="1200" dirty="0">
                <a:solidFill>
                  <a:schemeClr val="tx1"/>
                </a:solidFill>
                <a:latin typeface="+mn-lt"/>
                <a:ea typeface="+mn-ea"/>
                <a:cs typeface="+mn-cs"/>
              </a:rPr>
              <a:t>Cancel</a:t>
            </a:r>
            <a:r>
              <a:rPr lang="vi-VN" dirty="0"/>
              <a:t> hoặc </a:t>
            </a:r>
            <a:r>
              <a:rPr lang="vi-VN" sz="1200" b="1" kern="1200" dirty="0">
                <a:solidFill>
                  <a:schemeClr val="tx1"/>
                </a:solidFill>
                <a:latin typeface="+mn-lt"/>
                <a:ea typeface="+mn-ea"/>
                <a:cs typeface="+mn-cs"/>
              </a:rPr>
              <a:t>CancelAfter</a:t>
            </a:r>
            <a:r>
              <a:rPr lang="vi-VN" dirty="0"/>
              <a:t>.</a:t>
            </a:r>
          </a:p>
          <a:p>
            <a:r>
              <a:rPr lang="vi-VN" sz="1200" b="1" kern="1200" dirty="0">
                <a:solidFill>
                  <a:schemeClr val="tx1"/>
                </a:solidFill>
                <a:latin typeface="+mn-lt"/>
                <a:ea typeface="+mn-ea"/>
                <a:cs typeface="+mn-cs"/>
              </a:rPr>
              <a:t>CancellationToken</a:t>
            </a:r>
            <a:endParaRPr lang="vi-VN" dirty="0"/>
          </a:p>
          <a:p>
            <a:pPr lvl="1"/>
            <a:r>
              <a:rPr lang="vi-VN" dirty="0"/>
              <a:t>Chỉ ra xem </a:t>
            </a:r>
            <a:r>
              <a:rPr lang="vi-VN" b="1" dirty="0"/>
              <a:t>yêu cầu hủy</a:t>
            </a:r>
            <a:r>
              <a:rPr lang="vi-VN" dirty="0"/>
              <a:t> đã được gửi chưa.</a:t>
            </a:r>
          </a:p>
          <a:p>
            <a:br>
              <a:rPr lang="vi-VN" dirty="0"/>
            </a:br>
            <a:endParaRPr lang="vi-VN" dirty="0"/>
          </a:p>
          <a:p>
            <a:r>
              <a:rPr lang="vi-VN" b="1" dirty="0"/>
              <a:t>Mẫu chung để triển khai mô hình hủy hợp tác</a:t>
            </a:r>
          </a:p>
          <a:p>
            <a:r>
              <a:rPr lang="vi-VN" b="1" dirty="0"/>
              <a:t>Khởi tạo </a:t>
            </a:r>
            <a:r>
              <a:rPr lang="vi-VN" sz="1200" b="1" kern="1200" dirty="0">
                <a:solidFill>
                  <a:schemeClr val="tx1"/>
                </a:solidFill>
                <a:latin typeface="+mn-lt"/>
                <a:ea typeface="+mn-ea"/>
                <a:cs typeface="+mn-cs"/>
              </a:rPr>
              <a:t>CancellationTokenSource</a:t>
            </a:r>
            <a:endParaRPr lang="vi-VN" dirty="0"/>
          </a:p>
          <a:p>
            <a:pPr lvl="1"/>
            <a:r>
              <a:rPr lang="vi-VN" dirty="0"/>
              <a:t>Quản lý và gửi thông báo hủy tới các </a:t>
            </a:r>
            <a:r>
              <a:rPr lang="vi-VN" b="1" dirty="0"/>
              <a:t>cancellation token</a:t>
            </a:r>
            <a:r>
              <a:rPr lang="vi-VN" dirty="0"/>
              <a:t> riêng lẻ.</a:t>
            </a:r>
          </a:p>
          <a:p>
            <a:r>
              <a:rPr lang="vi-VN" b="1" dirty="0"/>
              <a:t>Truyền token (</a:t>
            </a:r>
            <a:r>
              <a:rPr lang="vi-VN" sz="1200" b="1" kern="1200" dirty="0">
                <a:solidFill>
                  <a:schemeClr val="tx1"/>
                </a:solidFill>
                <a:latin typeface="+mn-lt"/>
                <a:ea typeface="+mn-ea"/>
                <a:cs typeface="+mn-cs"/>
              </a:rPr>
              <a:t>CancellationTokenSource.Token</a:t>
            </a:r>
            <a:r>
              <a:rPr lang="vi-VN" b="1" dirty="0"/>
              <a:t>)</a:t>
            </a:r>
            <a:endParaRPr lang="vi-VN" dirty="0"/>
          </a:p>
          <a:p>
            <a:pPr lvl="1"/>
            <a:r>
              <a:rPr lang="vi-VN" dirty="0"/>
              <a:t>Gửi token này tới mỗi </a:t>
            </a:r>
            <a:r>
              <a:rPr lang="vi-VN" b="1" dirty="0"/>
              <a:t>task hoặc thread</a:t>
            </a:r>
            <a:r>
              <a:rPr lang="vi-VN" dirty="0"/>
              <a:t> để chúng có thể lắng nghe yêu cầu hủy.</a:t>
            </a:r>
          </a:p>
          <a:p>
            <a:r>
              <a:rPr lang="vi-VN" b="1" dirty="0"/>
              <a:t>Kiểm tra hủy trong các thao tác</a:t>
            </a:r>
            <a:endParaRPr lang="vi-VN" dirty="0"/>
          </a:p>
          <a:p>
            <a:pPr lvl="1"/>
            <a:r>
              <a:rPr lang="vi-VN" dirty="0"/>
              <a:t>Gọi </a:t>
            </a:r>
            <a:r>
              <a:rPr lang="vi-VN" sz="1200" b="1" kern="1200" dirty="0">
                <a:solidFill>
                  <a:schemeClr val="tx1"/>
                </a:solidFill>
                <a:latin typeface="+mn-lt"/>
                <a:ea typeface="+mn-ea"/>
                <a:cs typeface="+mn-cs"/>
              </a:rPr>
              <a:t>CancellationToken.IsCancellationRequested</a:t>
            </a:r>
            <a:r>
              <a:rPr lang="vi-VN" dirty="0"/>
              <a:t> từ các thao tác nhận token.</a:t>
            </a:r>
          </a:p>
          <a:p>
            <a:pPr lvl="1"/>
            <a:r>
              <a:rPr lang="vi-VN" dirty="0"/>
              <a:t>Cung cấp cơ chế để mỗi task hoặc thread </a:t>
            </a:r>
            <a:r>
              <a:rPr lang="vi-VN" b="1" dirty="0"/>
              <a:t>phản hồi khi có yêu cầu hủy</a:t>
            </a:r>
            <a:r>
              <a:rPr lang="vi-VN" dirty="0"/>
              <a:t>.</a:t>
            </a:r>
          </a:p>
          <a:p>
            <a:pPr lvl="1"/>
            <a:r>
              <a:rPr lang="vi-VN" dirty="0"/>
              <a:t>Việc có hủy hay không, và cách thực hiện hủy, phụ thuộc vào </a:t>
            </a:r>
            <a:r>
              <a:rPr lang="vi-VN" b="1" dirty="0"/>
              <a:t>logic của ứng dụng</a:t>
            </a:r>
            <a:r>
              <a:rPr lang="vi-VN" dirty="0"/>
              <a:t>.</a:t>
            </a:r>
          </a:p>
          <a:p>
            <a:r>
              <a:rPr lang="vi-VN" b="1" dirty="0"/>
              <a:t>Gửi thông báo hủy</a:t>
            </a:r>
            <a:endParaRPr lang="vi-VN" dirty="0"/>
          </a:p>
          <a:p>
            <a:pPr lvl="1"/>
            <a:r>
              <a:rPr lang="vi-VN" dirty="0"/>
              <a:t>Gọi </a:t>
            </a:r>
            <a:r>
              <a:rPr lang="vi-VN" sz="1200" b="1" kern="1200" dirty="0">
                <a:solidFill>
                  <a:schemeClr val="tx1"/>
                </a:solidFill>
                <a:latin typeface="+mn-lt"/>
                <a:ea typeface="+mn-ea"/>
                <a:cs typeface="+mn-cs"/>
              </a:rPr>
              <a:t>CancellationTokenSource.Cancel</a:t>
            </a:r>
            <a:r>
              <a:rPr lang="vi-VN" dirty="0"/>
              <a:t> để thông báo hủy.</a:t>
            </a:r>
          </a:p>
          <a:p>
            <a:pPr lvl="1"/>
            <a:r>
              <a:rPr lang="vi-VN" dirty="0"/>
              <a:t>Khi đó, </a:t>
            </a:r>
            <a:r>
              <a:rPr lang="vi-VN" sz="1200" b="1" kern="1200" dirty="0">
                <a:solidFill>
                  <a:schemeClr val="tx1"/>
                </a:solidFill>
                <a:latin typeface="+mn-lt"/>
                <a:ea typeface="+mn-ea"/>
                <a:cs typeface="+mn-cs"/>
              </a:rPr>
              <a:t>CancellationToken.IsCancellationRequested</a:t>
            </a:r>
            <a:r>
              <a:rPr lang="vi-VN" dirty="0"/>
              <a:t> trên tất cả các bản sao của token sẽ được đặt thành </a:t>
            </a:r>
            <a:r>
              <a:rPr lang="vi-VN" b="1" dirty="0"/>
              <a:t>true</a:t>
            </a:r>
            <a:r>
              <a:rPr lang="vi-VN" dirty="0"/>
              <a:t>.</a:t>
            </a:r>
          </a:p>
          <a:p>
            <a:r>
              <a:rPr lang="vi-VN" b="1" dirty="0"/>
              <a:t>Giải phóng đối tượng</a:t>
            </a:r>
            <a:endParaRPr lang="vi-VN" dirty="0"/>
          </a:p>
          <a:p>
            <a:pPr lvl="1"/>
            <a:r>
              <a:rPr lang="vi-VN" dirty="0"/>
              <a:t>Gọi </a:t>
            </a:r>
            <a:r>
              <a:rPr lang="vi-VN" sz="1200" b="1" kern="1200" dirty="0">
                <a:solidFill>
                  <a:schemeClr val="tx1"/>
                </a:solidFill>
                <a:latin typeface="+mn-lt"/>
                <a:ea typeface="+mn-ea"/>
                <a:cs typeface="+mn-cs"/>
              </a:rPr>
              <a:t>Dispose</a:t>
            </a:r>
            <a:r>
              <a:rPr lang="vi-VN" dirty="0"/>
              <a:t> khi hoàn tất với đối tượng </a:t>
            </a:r>
            <a:r>
              <a:rPr lang="vi-VN" sz="1200" b="1" kern="1200" dirty="0">
                <a:solidFill>
                  <a:schemeClr val="tx1"/>
                </a:solidFill>
                <a:latin typeface="+mn-lt"/>
                <a:ea typeface="+mn-ea"/>
                <a:cs typeface="+mn-cs"/>
              </a:rPr>
              <a:t>CancellationTokenSource</a:t>
            </a:r>
            <a:r>
              <a:rPr lang="vi-VN" dirty="0"/>
              <a:t>.</a:t>
            </a:r>
          </a:p>
          <a:p>
            <a:pPr marL="171450" indent="-171450">
              <a:buFont typeface="Arial" panose="020B0604020202020204" pitchFamily="34" charset="0"/>
              <a:buChar char="•"/>
            </a:pPr>
            <a:endParaRPr lang="vi-VN"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p:txBody>
      </p:sp>
      <p:sp>
        <p:nvSpPr>
          <p:cNvPr id="4" name="Slide Number Placeholder 3">
            <a:extLst>
              <a:ext uri="{FF2B5EF4-FFF2-40B4-BE49-F238E27FC236}">
                <a16:creationId xmlns:a16="http://schemas.microsoft.com/office/drawing/2014/main" id="{B83881D2-D2EA-10E5-5CBB-0F8FA908583F}"/>
              </a:ext>
            </a:extLst>
          </p:cNvPr>
          <p:cNvSpPr>
            <a:spLocks noGrp="1"/>
          </p:cNvSpPr>
          <p:nvPr>
            <p:ph type="sldNum" sz="quarter" idx="5"/>
          </p:nvPr>
        </p:nvSpPr>
        <p:spPr/>
        <p:txBody>
          <a:bodyPr/>
          <a:lstStyle/>
          <a:p>
            <a:fld id="{520FF826-09D7-4BFB-A6F2-AAC85BBDF987}" type="slidenum">
              <a:rPr lang="en-US" smtClean="0"/>
              <a:t>7</a:t>
            </a:fld>
            <a:endParaRPr lang="en-US"/>
          </a:p>
        </p:txBody>
      </p:sp>
    </p:spTree>
    <p:extLst>
      <p:ext uri="{BB962C8B-B14F-4D97-AF65-F5344CB8AC3E}">
        <p14:creationId xmlns:p14="http://schemas.microsoft.com/office/powerpoint/2010/main" val="2971730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411EF-7220-6A15-47BB-F3D3438BB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CAC50-0D6B-8B38-697D-D85444DBE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6D4FC-1566-AAE5-3C98-3057687CF8AA}"/>
              </a:ext>
            </a:extLst>
          </p:cNvPr>
          <p:cNvSpPr>
            <a:spLocks noGrp="1"/>
          </p:cNvSpPr>
          <p:nvPr>
            <p:ph type="body" idx="1"/>
          </p:nvPr>
        </p:nvSpPr>
        <p:spPr/>
        <p:txBody>
          <a:bodyPr/>
          <a:lstStyle/>
          <a:p>
            <a:pPr marL="0" indent="0">
              <a:buFont typeface="+mj-lt"/>
              <a:buNone/>
            </a:pPr>
            <a:r>
              <a:rPr lang="vi-VN" dirty="0"/>
              <a:t>Điều quan trọng nhất cần hiểu trong lập trình bất đồng bộ là cách luồng điều khiển (control flow) di chuyển từ phương thức này sang phương thức khác. Sơ đồ dưới đây sẽ hướng dẫn bạn qua toàn bộ quá trình đó.</a:t>
            </a:r>
            <a:endParaRPr lang="en-US" dirty="0"/>
          </a:p>
          <a:p>
            <a:pPr marL="0" indent="0">
              <a:buFont typeface="+mj-lt"/>
              <a:buNone/>
            </a:pPr>
            <a:endParaRPr lang="en-US" dirty="0"/>
          </a:p>
          <a:p>
            <a:pPr marL="0" indent="0">
              <a:buFont typeface="+mj-lt"/>
              <a:buNone/>
            </a:pPr>
            <a:endParaRPr lang="en-US" dirty="0"/>
          </a:p>
        </p:txBody>
      </p:sp>
      <p:sp>
        <p:nvSpPr>
          <p:cNvPr id="4" name="Slide Number Placeholder 3">
            <a:extLst>
              <a:ext uri="{FF2B5EF4-FFF2-40B4-BE49-F238E27FC236}">
                <a16:creationId xmlns:a16="http://schemas.microsoft.com/office/drawing/2014/main" id="{F9039A1B-D8C0-CB62-E2A1-B9E5EB13E47C}"/>
              </a:ext>
            </a:extLst>
          </p:cNvPr>
          <p:cNvSpPr>
            <a:spLocks noGrp="1"/>
          </p:cNvSpPr>
          <p:nvPr>
            <p:ph type="sldNum" sz="quarter" idx="5"/>
          </p:nvPr>
        </p:nvSpPr>
        <p:spPr/>
        <p:txBody>
          <a:bodyPr/>
          <a:lstStyle/>
          <a:p>
            <a:fld id="{520FF826-09D7-4BFB-A6F2-AAC85BBDF987}" type="slidenum">
              <a:rPr lang="en-US" smtClean="0"/>
              <a:t>8</a:t>
            </a:fld>
            <a:endParaRPr lang="en-US"/>
          </a:p>
        </p:txBody>
      </p:sp>
    </p:spTree>
    <p:extLst>
      <p:ext uri="{BB962C8B-B14F-4D97-AF65-F5344CB8AC3E}">
        <p14:creationId xmlns:p14="http://schemas.microsoft.com/office/powerpoint/2010/main" val="2949446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0FF826-09D7-4BFB-A6F2-AAC85BBDF987}" type="slidenum">
              <a:rPr lang="en-US" smtClean="0"/>
              <a:t>9</a:t>
            </a:fld>
            <a:endParaRPr lang="en-US"/>
          </a:p>
        </p:txBody>
      </p:sp>
    </p:spTree>
    <p:extLst>
      <p:ext uri="{BB962C8B-B14F-4D97-AF65-F5344CB8AC3E}">
        <p14:creationId xmlns:p14="http://schemas.microsoft.com/office/powerpoint/2010/main" val="2049476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8715C-4A65-D6B6-BFB3-432990A89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0734F-3FBC-993B-93B2-7C251319B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0FC70-474A-FFC8-E611-929FA5988BC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vi-VN" b="1" dirty="0"/>
              <a:t>State machine</a:t>
            </a:r>
            <a:r>
              <a:rPr lang="vi-VN" dirty="0"/>
              <a:t> (máy trạng thái) là </a:t>
            </a:r>
            <a:r>
              <a:rPr lang="vi-VN" b="1" dirty="0"/>
              <a:t>một cấu trúc mà compiler C# tự động sinh ra</a:t>
            </a:r>
            <a:r>
              <a:rPr lang="vi-VN" dirty="0"/>
              <a:t> khi bạn dùng </a:t>
            </a:r>
            <a:r>
              <a:rPr lang="vi-VN" b="1" dirty="0"/>
              <a:t>async/await</a:t>
            </a:r>
            <a:r>
              <a:rPr lang="vi-VN" dirty="0"/>
              <a:t>, giúp chương trình biết </a:t>
            </a:r>
            <a:r>
              <a:rPr lang="vi-VN" b="1" dirty="0"/>
              <a:t>đang tạm dừng ở đâu và phải tiếp tục từ đâu</a:t>
            </a:r>
            <a:r>
              <a:rPr lang="vi-VN" dirty="0"/>
              <a:t> khi một Task hoàn thành.</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r>
              <a:rPr lang="en-US" dirty="0"/>
              <a:t>-   </a:t>
            </a:r>
            <a:r>
              <a:rPr lang="en-US" dirty="0" err="1"/>
              <a:t>Tại</a:t>
            </a:r>
            <a:r>
              <a:rPr lang="en-US" dirty="0"/>
              <a:t> </a:t>
            </a:r>
            <a:r>
              <a:rPr lang="en-US" dirty="0" err="1"/>
              <a:t>sao</a:t>
            </a:r>
            <a:r>
              <a:rPr lang="en-US" dirty="0"/>
              <a:t> </a:t>
            </a:r>
            <a:r>
              <a:rPr lang="en-US" dirty="0" err="1"/>
              <a:t>cần</a:t>
            </a:r>
            <a:r>
              <a:rPr lang="en-US" dirty="0"/>
              <a:t> state machine?</a:t>
            </a:r>
            <a:br>
              <a:rPr lang="en-US" dirty="0"/>
            </a:br>
            <a:r>
              <a:rPr lang="vi-VN" dirty="0"/>
              <a:t>Vì code async/await </a:t>
            </a:r>
            <a:r>
              <a:rPr lang="vi-VN" b="1" dirty="0"/>
              <a:t>trông giống như viết đồng bộ</a:t>
            </a:r>
            <a:r>
              <a:rPr lang="vi-VN" dirty="0"/>
              <a:t>, nhưng thực chất phải </a:t>
            </a:r>
            <a:r>
              <a:rPr lang="vi-VN" b="1" dirty="0"/>
              <a:t>tạm dừng và tiếp tục</a:t>
            </a:r>
            <a:r>
              <a:rPr lang="vi-VN" dirty="0"/>
              <a:t>.</a:t>
            </a:r>
            <a:br>
              <a:rPr lang="vi-VN" dirty="0"/>
            </a:br>
            <a:r>
              <a:rPr lang="vi-VN" dirty="0"/>
              <a:t>Compiler cần một cơ chế để:</a:t>
            </a:r>
          </a:p>
          <a:p>
            <a:r>
              <a:rPr lang="vi-VN" dirty="0"/>
              <a:t>Ghi nhớ vị trí tạm dừng</a:t>
            </a:r>
          </a:p>
          <a:p>
            <a:r>
              <a:rPr lang="vi-VN" dirty="0"/>
              <a:t>Ghi nhớ giá trị biến cục bộ</a:t>
            </a:r>
          </a:p>
          <a:p>
            <a:r>
              <a:rPr lang="vi-VN" dirty="0"/>
              <a:t>Tiếp tục chạy từ đúng chỗ khi await xong</a:t>
            </a:r>
          </a:p>
          <a:p>
            <a:r>
              <a:rPr lang="vi-VN" dirty="0"/>
              <a:t>→ Đó là nhiệm vụ của state machine.</a:t>
            </a:r>
            <a:endParaRPr lang="en-US" dirty="0"/>
          </a:p>
          <a:p>
            <a:endParaRPr lang="en-US" dirty="0"/>
          </a:p>
          <a:p>
            <a:r>
              <a:rPr lang="en-US" dirty="0"/>
              <a:t>***</a:t>
            </a:r>
          </a:p>
          <a:p>
            <a:r>
              <a:rPr lang="en-US" b="1" dirty="0" err="1"/>
              <a:t>Chức</a:t>
            </a:r>
            <a:r>
              <a:rPr lang="en-US" b="1" dirty="0"/>
              <a:t> </a:t>
            </a:r>
            <a:r>
              <a:rPr lang="en-US" b="1" dirty="0" err="1"/>
              <a:t>năng</a:t>
            </a:r>
            <a:r>
              <a:rPr lang="en-US" b="1" dirty="0"/>
              <a:t> </a:t>
            </a:r>
            <a:r>
              <a:rPr lang="en-US" b="1" dirty="0" err="1"/>
              <a:t>của</a:t>
            </a:r>
            <a:r>
              <a:rPr lang="en-US" b="1" dirty="0"/>
              <a:t> </a:t>
            </a:r>
            <a:r>
              <a:rPr lang="en-US" b="1" dirty="0" err="1"/>
              <a:t>AsyncTaskMethodBuilder</a:t>
            </a:r>
            <a:r>
              <a:rPr lang="en-US" b="1" dirty="0"/>
              <a:t>&lt;int&gt;:</a:t>
            </a:r>
          </a:p>
          <a:p>
            <a:r>
              <a:rPr lang="en-US" b="1" dirty="0"/>
              <a:t>Quản </a:t>
            </a:r>
            <a:r>
              <a:rPr lang="en-US" b="1" dirty="0" err="1"/>
              <a:t>lý</a:t>
            </a:r>
            <a:r>
              <a:rPr lang="en-US" b="1" dirty="0"/>
              <a:t> Task&lt;int&gt; </a:t>
            </a:r>
            <a:r>
              <a:rPr lang="en-US" b="1" dirty="0" err="1"/>
              <a:t>mà</a:t>
            </a:r>
            <a:r>
              <a:rPr lang="en-US" b="1" dirty="0"/>
              <a:t> async method </a:t>
            </a:r>
            <a:r>
              <a:rPr lang="en-US" b="1" dirty="0" err="1"/>
              <a:t>trả</a:t>
            </a:r>
            <a:r>
              <a:rPr lang="en-US" b="1" dirty="0"/>
              <a:t> </a:t>
            </a:r>
            <a:r>
              <a:rPr lang="en-US" b="1" dirty="0" err="1"/>
              <a:t>về</a:t>
            </a:r>
            <a:endParaRPr lang="en-US" dirty="0"/>
          </a:p>
          <a:p>
            <a:pPr lvl="1"/>
            <a:r>
              <a:rPr lang="en-US" sz="1200" kern="1200" dirty="0">
                <a:solidFill>
                  <a:schemeClr val="tx1"/>
                </a:solidFill>
                <a:latin typeface="+mn-lt"/>
                <a:ea typeface="+mn-ea"/>
                <a:cs typeface="+mn-cs"/>
              </a:rPr>
              <a:t>_</a:t>
            </a:r>
            <a:r>
              <a:rPr lang="en-US" sz="1200" kern="1200" dirty="0" err="1">
                <a:solidFill>
                  <a:schemeClr val="tx1"/>
                </a:solidFill>
                <a:latin typeface="+mn-lt"/>
                <a:ea typeface="+mn-ea"/>
                <a:cs typeface="+mn-cs"/>
              </a:rPr>
              <a:t>builder.Task</a:t>
            </a:r>
            <a:r>
              <a:rPr lang="en-US" dirty="0"/>
              <a:t> </a:t>
            </a:r>
            <a:r>
              <a:rPr lang="en-US" dirty="0" err="1"/>
              <a:t>chính</a:t>
            </a:r>
            <a:r>
              <a:rPr lang="en-US" dirty="0"/>
              <a:t> </a:t>
            </a:r>
            <a:r>
              <a:rPr lang="en-US" dirty="0" err="1"/>
              <a:t>là</a:t>
            </a:r>
            <a:r>
              <a:rPr lang="en-US" dirty="0"/>
              <a:t> </a:t>
            </a:r>
            <a:r>
              <a:rPr lang="en-US" sz="1200" kern="1200" dirty="0">
                <a:solidFill>
                  <a:schemeClr val="tx1"/>
                </a:solidFill>
                <a:latin typeface="+mn-lt"/>
                <a:ea typeface="+mn-ea"/>
                <a:cs typeface="+mn-cs"/>
              </a:rPr>
              <a:t>Task&lt;int&gt;</a:t>
            </a:r>
            <a:r>
              <a:rPr lang="en-US" dirty="0"/>
              <a:t> </a:t>
            </a:r>
            <a:r>
              <a:rPr lang="en-US" dirty="0" err="1"/>
              <a:t>trả</a:t>
            </a:r>
            <a:r>
              <a:rPr lang="en-US" dirty="0"/>
              <a:t> </a:t>
            </a:r>
            <a:r>
              <a:rPr lang="en-US" dirty="0" err="1"/>
              <a:t>về</a:t>
            </a:r>
            <a:r>
              <a:rPr lang="en-US" dirty="0"/>
              <a:t> </a:t>
            </a:r>
            <a:r>
              <a:rPr lang="en-US" dirty="0" err="1"/>
              <a:t>cho</a:t>
            </a:r>
            <a:r>
              <a:rPr lang="en-US" dirty="0"/>
              <a:t> caller.</a:t>
            </a:r>
          </a:p>
          <a:p>
            <a:pPr lvl="1"/>
            <a:r>
              <a:rPr lang="en-US" dirty="0"/>
              <a:t>Caller </a:t>
            </a:r>
            <a:r>
              <a:rPr lang="en-US" dirty="0" err="1"/>
              <a:t>không</a:t>
            </a:r>
            <a:r>
              <a:rPr lang="en-US" dirty="0"/>
              <a:t> </a:t>
            </a:r>
            <a:r>
              <a:rPr lang="en-US" dirty="0" err="1"/>
              <a:t>biết</a:t>
            </a:r>
            <a:r>
              <a:rPr lang="en-US" dirty="0"/>
              <a:t> </a:t>
            </a:r>
            <a:r>
              <a:rPr lang="en-US" dirty="0" err="1"/>
              <a:t>nội</a:t>
            </a:r>
            <a:r>
              <a:rPr lang="en-US" dirty="0"/>
              <a:t> </a:t>
            </a:r>
            <a:r>
              <a:rPr lang="en-US" dirty="0" err="1"/>
              <a:t>bộ</a:t>
            </a:r>
            <a:r>
              <a:rPr lang="en-US" dirty="0"/>
              <a:t> </a:t>
            </a:r>
            <a:r>
              <a:rPr lang="en-US" dirty="0" err="1"/>
              <a:t>đang</a:t>
            </a:r>
            <a:r>
              <a:rPr lang="en-US" dirty="0"/>
              <a:t> </a:t>
            </a:r>
            <a:r>
              <a:rPr lang="en-US" dirty="0" err="1"/>
              <a:t>chạy</a:t>
            </a:r>
            <a:r>
              <a:rPr lang="en-US" dirty="0"/>
              <a:t> </a:t>
            </a:r>
            <a:r>
              <a:rPr lang="en-US" dirty="0" err="1"/>
              <a:t>tới</a:t>
            </a:r>
            <a:r>
              <a:rPr lang="en-US" dirty="0"/>
              <a:t> </a:t>
            </a:r>
            <a:r>
              <a:rPr lang="en-US" dirty="0" err="1"/>
              <a:t>đâu</a:t>
            </a:r>
            <a:r>
              <a:rPr lang="en-US" dirty="0"/>
              <a:t> — </a:t>
            </a:r>
            <a:r>
              <a:rPr lang="en-US" dirty="0" err="1"/>
              <a:t>họ</a:t>
            </a:r>
            <a:r>
              <a:rPr lang="en-US" dirty="0"/>
              <a:t> </a:t>
            </a:r>
            <a:r>
              <a:rPr lang="en-US" dirty="0" err="1"/>
              <a:t>chỉ</a:t>
            </a:r>
            <a:r>
              <a:rPr lang="en-US" dirty="0"/>
              <a:t> </a:t>
            </a:r>
            <a:r>
              <a:rPr lang="en-US" dirty="0" err="1"/>
              <a:t>nhận</a:t>
            </a:r>
            <a:r>
              <a:rPr lang="en-US" dirty="0"/>
              <a:t> 1 </a:t>
            </a:r>
            <a:r>
              <a:rPr lang="en-US" dirty="0" err="1"/>
              <a:t>cái</a:t>
            </a:r>
            <a:r>
              <a:rPr lang="en-US" dirty="0"/>
              <a:t> Task.</a:t>
            </a:r>
          </a:p>
          <a:p>
            <a:r>
              <a:rPr lang="en-US" b="1" dirty="0"/>
              <a:t>Thông </a:t>
            </a:r>
            <a:r>
              <a:rPr lang="en-US" b="1" dirty="0" err="1"/>
              <a:t>báo</a:t>
            </a:r>
            <a:r>
              <a:rPr lang="en-US" b="1" dirty="0"/>
              <a:t> </a:t>
            </a:r>
            <a:r>
              <a:rPr lang="en-US" b="1" dirty="0" err="1"/>
              <a:t>khi</a:t>
            </a:r>
            <a:r>
              <a:rPr lang="en-US" b="1" dirty="0"/>
              <a:t> method </a:t>
            </a:r>
            <a:r>
              <a:rPr lang="en-US" b="1" dirty="0" err="1"/>
              <a:t>hoàn</a:t>
            </a:r>
            <a:r>
              <a:rPr lang="en-US" b="1" dirty="0"/>
              <a:t> </a:t>
            </a:r>
            <a:r>
              <a:rPr lang="en-US" b="1" dirty="0" err="1"/>
              <a:t>thành</a:t>
            </a:r>
            <a:endParaRPr lang="en-US" dirty="0"/>
          </a:p>
          <a:p>
            <a:pPr lvl="1"/>
            <a:r>
              <a:rPr lang="en-US" sz="1200" kern="1200" dirty="0">
                <a:solidFill>
                  <a:schemeClr val="tx1"/>
                </a:solidFill>
                <a:latin typeface="+mn-lt"/>
                <a:ea typeface="+mn-ea"/>
                <a:cs typeface="+mn-cs"/>
              </a:rPr>
              <a:t>_</a:t>
            </a:r>
            <a:r>
              <a:rPr lang="en-US" sz="1200" kern="1200" dirty="0" err="1">
                <a:solidFill>
                  <a:schemeClr val="tx1"/>
                </a:solidFill>
                <a:latin typeface="+mn-lt"/>
                <a:ea typeface="+mn-ea"/>
                <a:cs typeface="+mn-cs"/>
              </a:rPr>
              <a:t>builder.SetResult</a:t>
            </a:r>
            <a:r>
              <a:rPr lang="en-US" sz="1200" kern="1200" dirty="0">
                <a:solidFill>
                  <a:schemeClr val="tx1"/>
                </a:solidFill>
                <a:latin typeface="+mn-lt"/>
                <a:ea typeface="+mn-ea"/>
                <a:cs typeface="+mn-cs"/>
              </a:rPr>
              <a:t>(int value)</a:t>
            </a:r>
            <a:r>
              <a:rPr lang="en-US" dirty="0"/>
              <a:t> → </a:t>
            </a:r>
            <a:r>
              <a:rPr lang="en-US" dirty="0" err="1"/>
              <a:t>báo</a:t>
            </a:r>
            <a:r>
              <a:rPr lang="en-US" dirty="0"/>
              <a:t> Task </a:t>
            </a:r>
            <a:r>
              <a:rPr lang="en-US" dirty="0" err="1"/>
              <a:t>hoàn</a:t>
            </a:r>
            <a:r>
              <a:rPr lang="en-US" dirty="0"/>
              <a:t> </a:t>
            </a:r>
            <a:r>
              <a:rPr lang="en-US" dirty="0" err="1"/>
              <a:t>thành</a:t>
            </a:r>
            <a:r>
              <a:rPr lang="en-US" dirty="0"/>
              <a:t> </a:t>
            </a:r>
            <a:r>
              <a:rPr lang="en-US" dirty="0" err="1"/>
              <a:t>và</a:t>
            </a:r>
            <a:r>
              <a:rPr lang="en-US" dirty="0"/>
              <a:t> set </a:t>
            </a:r>
            <a:r>
              <a:rPr lang="en-US" dirty="0" err="1"/>
              <a:t>kết</a:t>
            </a:r>
            <a:r>
              <a:rPr lang="en-US" dirty="0"/>
              <a:t> </a:t>
            </a:r>
            <a:r>
              <a:rPr lang="en-US" dirty="0" err="1"/>
              <a:t>quả</a:t>
            </a:r>
            <a:r>
              <a:rPr lang="en-US" dirty="0"/>
              <a:t>.</a:t>
            </a:r>
          </a:p>
          <a:p>
            <a:pPr lvl="1"/>
            <a:r>
              <a:rPr lang="en-US" sz="1200" kern="1200" dirty="0">
                <a:solidFill>
                  <a:schemeClr val="tx1"/>
                </a:solidFill>
                <a:latin typeface="+mn-lt"/>
                <a:ea typeface="+mn-ea"/>
                <a:cs typeface="+mn-cs"/>
              </a:rPr>
              <a:t>_</a:t>
            </a:r>
            <a:r>
              <a:rPr lang="en-US" sz="1200" kern="1200" dirty="0" err="1">
                <a:solidFill>
                  <a:schemeClr val="tx1"/>
                </a:solidFill>
                <a:latin typeface="+mn-lt"/>
                <a:ea typeface="+mn-ea"/>
                <a:cs typeface="+mn-cs"/>
              </a:rPr>
              <a:t>builder.SetException</a:t>
            </a:r>
            <a:r>
              <a:rPr lang="en-US" sz="1200" kern="1200" dirty="0">
                <a:solidFill>
                  <a:schemeClr val="tx1"/>
                </a:solidFill>
                <a:latin typeface="+mn-lt"/>
                <a:ea typeface="+mn-ea"/>
                <a:cs typeface="+mn-cs"/>
              </a:rPr>
              <a:t>(Exception ex)</a:t>
            </a:r>
            <a:r>
              <a:rPr lang="en-US" dirty="0"/>
              <a:t> → </a:t>
            </a:r>
            <a:r>
              <a:rPr lang="en-US" dirty="0" err="1"/>
              <a:t>báo</a:t>
            </a:r>
            <a:r>
              <a:rPr lang="en-US" dirty="0"/>
              <a:t> task </a:t>
            </a:r>
            <a:r>
              <a:rPr lang="en-US" dirty="0" err="1"/>
              <a:t>thất</a:t>
            </a:r>
            <a:r>
              <a:rPr lang="en-US" dirty="0"/>
              <a:t> </a:t>
            </a:r>
            <a:r>
              <a:rPr lang="en-US" dirty="0" err="1"/>
              <a:t>bại</a:t>
            </a:r>
            <a:r>
              <a:rPr lang="en-US" dirty="0"/>
              <a:t>.</a:t>
            </a:r>
          </a:p>
          <a:p>
            <a:r>
              <a:rPr lang="en-US" b="1" dirty="0" err="1"/>
              <a:t>Đăng</a:t>
            </a:r>
            <a:r>
              <a:rPr lang="en-US" b="1" dirty="0"/>
              <a:t> </a:t>
            </a:r>
            <a:r>
              <a:rPr lang="en-US" b="1" dirty="0" err="1"/>
              <a:t>ký</a:t>
            </a:r>
            <a:r>
              <a:rPr lang="en-US" b="1" dirty="0"/>
              <a:t> callback </a:t>
            </a:r>
            <a:r>
              <a:rPr lang="en-US" b="1" dirty="0" err="1"/>
              <a:t>để</a:t>
            </a:r>
            <a:r>
              <a:rPr lang="en-US" b="1" dirty="0"/>
              <a:t> </a:t>
            </a:r>
            <a:r>
              <a:rPr lang="en-US" b="1" dirty="0" err="1"/>
              <a:t>tiếp</a:t>
            </a:r>
            <a:r>
              <a:rPr lang="en-US" b="1" dirty="0"/>
              <a:t> </a:t>
            </a:r>
            <a:r>
              <a:rPr lang="en-US" b="1" dirty="0" err="1"/>
              <a:t>tục</a:t>
            </a:r>
            <a:r>
              <a:rPr lang="en-US" b="1" dirty="0"/>
              <a:t> state machine</a:t>
            </a:r>
            <a:endParaRPr lang="en-US" dirty="0"/>
          </a:p>
          <a:p>
            <a:pPr lvl="1"/>
            <a:r>
              <a:rPr lang="en-US" sz="1200" kern="1200" dirty="0">
                <a:solidFill>
                  <a:schemeClr val="tx1"/>
                </a:solidFill>
                <a:latin typeface="+mn-lt"/>
                <a:ea typeface="+mn-ea"/>
                <a:cs typeface="+mn-cs"/>
              </a:rPr>
              <a:t>_</a:t>
            </a:r>
            <a:r>
              <a:rPr lang="en-US" sz="1200" kern="1200" dirty="0" err="1">
                <a:solidFill>
                  <a:schemeClr val="tx1"/>
                </a:solidFill>
                <a:latin typeface="+mn-lt"/>
                <a:ea typeface="+mn-ea"/>
                <a:cs typeface="+mn-cs"/>
              </a:rPr>
              <a:t>builder.AwaitUnsafeOnCompleted</a:t>
            </a:r>
            <a:r>
              <a:rPr lang="en-US" sz="1200" kern="1200" dirty="0">
                <a:solidFill>
                  <a:schemeClr val="tx1"/>
                </a:solidFill>
                <a:latin typeface="+mn-lt"/>
                <a:ea typeface="+mn-ea"/>
                <a:cs typeface="+mn-cs"/>
              </a:rPr>
              <a:t>(ref </a:t>
            </a:r>
            <a:r>
              <a:rPr lang="en-US" sz="1200" kern="1200" dirty="0" err="1">
                <a:solidFill>
                  <a:schemeClr val="tx1"/>
                </a:solidFill>
                <a:latin typeface="+mn-lt"/>
                <a:ea typeface="+mn-ea"/>
                <a:cs typeface="+mn-cs"/>
              </a:rPr>
              <a:t>awaiter</a:t>
            </a:r>
            <a:r>
              <a:rPr lang="en-US" sz="1200" kern="1200" dirty="0">
                <a:solidFill>
                  <a:schemeClr val="tx1"/>
                </a:solidFill>
                <a:latin typeface="+mn-lt"/>
                <a:ea typeface="+mn-ea"/>
                <a:cs typeface="+mn-cs"/>
              </a:rPr>
              <a:t>, ref </a:t>
            </a:r>
            <a:r>
              <a:rPr lang="en-US" sz="1200" kern="1200" dirty="0" err="1">
                <a:solidFill>
                  <a:schemeClr val="tx1"/>
                </a:solidFill>
                <a:latin typeface="+mn-lt"/>
                <a:ea typeface="+mn-ea"/>
                <a:cs typeface="+mn-cs"/>
              </a:rPr>
              <a:t>stateMachine</a:t>
            </a:r>
            <a:r>
              <a:rPr lang="en-US" sz="1200" kern="1200" dirty="0">
                <a:solidFill>
                  <a:schemeClr val="tx1"/>
                </a:solidFill>
                <a:latin typeface="+mn-lt"/>
                <a:ea typeface="+mn-ea"/>
                <a:cs typeface="+mn-cs"/>
              </a:rPr>
              <a:t>)</a:t>
            </a:r>
            <a:endParaRPr lang="en-US" dirty="0"/>
          </a:p>
          <a:p>
            <a:pPr lvl="1"/>
            <a:r>
              <a:rPr lang="en-US" dirty="0" err="1"/>
              <a:t>Nó</a:t>
            </a:r>
            <a:r>
              <a:rPr lang="en-US" dirty="0"/>
              <a:t> </a:t>
            </a:r>
            <a:r>
              <a:rPr lang="en-US" dirty="0" err="1"/>
              <a:t>yêu</a:t>
            </a:r>
            <a:r>
              <a:rPr lang="en-US" dirty="0"/>
              <a:t> </a:t>
            </a:r>
            <a:r>
              <a:rPr lang="en-US" dirty="0" err="1"/>
              <a:t>cầu</a:t>
            </a:r>
            <a:r>
              <a:rPr lang="en-US" dirty="0"/>
              <a:t> </a:t>
            </a:r>
            <a:r>
              <a:rPr lang="en-US" dirty="0" err="1"/>
              <a:t>awaiter</a:t>
            </a:r>
            <a:r>
              <a:rPr lang="en-US" dirty="0"/>
              <a:t> </a:t>
            </a:r>
            <a:r>
              <a:rPr lang="en-US" dirty="0" err="1"/>
              <a:t>gọi</a:t>
            </a:r>
            <a:r>
              <a:rPr lang="en-US" dirty="0"/>
              <a:t> </a:t>
            </a:r>
            <a:r>
              <a:rPr lang="en-US" dirty="0" err="1"/>
              <a:t>lại</a:t>
            </a:r>
            <a:r>
              <a:rPr lang="en-US" dirty="0"/>
              <a:t> state machine </a:t>
            </a:r>
            <a:r>
              <a:rPr lang="en-US" dirty="0" err="1"/>
              <a:t>khi</a:t>
            </a:r>
            <a:r>
              <a:rPr lang="en-US" dirty="0"/>
              <a:t> operation async </a:t>
            </a:r>
            <a:r>
              <a:rPr lang="en-US" dirty="0" err="1"/>
              <a:t>xong</a:t>
            </a:r>
            <a:r>
              <a:rPr lang="en-US" dirty="0"/>
              <a:t>.</a:t>
            </a:r>
          </a:p>
          <a:p>
            <a:r>
              <a:rPr lang="en-US" dirty="0"/>
              <a:t>👉 </a:t>
            </a:r>
            <a:r>
              <a:rPr lang="en-US" b="1" dirty="0"/>
              <a:t>Nói </a:t>
            </a:r>
            <a:r>
              <a:rPr lang="en-US" b="1" dirty="0" err="1"/>
              <a:t>ngắn</a:t>
            </a:r>
            <a:r>
              <a:rPr lang="en-US" b="1" dirty="0"/>
              <a:t> </a:t>
            </a:r>
            <a:r>
              <a:rPr lang="en-US" b="1" dirty="0" err="1"/>
              <a:t>gọn</a:t>
            </a:r>
            <a:r>
              <a:rPr lang="en-US" b="1" dirty="0"/>
              <a:t>:</a:t>
            </a:r>
            <a:br>
              <a:rPr lang="en-US" dirty="0"/>
            </a:br>
            <a:r>
              <a:rPr lang="en-US" sz="1200" kern="1200" dirty="0" err="1">
                <a:solidFill>
                  <a:schemeClr val="tx1"/>
                </a:solidFill>
                <a:latin typeface="+mn-lt"/>
                <a:ea typeface="+mn-ea"/>
                <a:cs typeface="+mn-cs"/>
              </a:rPr>
              <a:t>AsyncTaskMethodBuilder</a:t>
            </a:r>
            <a:r>
              <a:rPr lang="en-US" dirty="0"/>
              <a:t> </a:t>
            </a:r>
            <a:r>
              <a:rPr lang="en-US" dirty="0" err="1"/>
              <a:t>là</a:t>
            </a:r>
            <a:r>
              <a:rPr lang="en-US" dirty="0"/>
              <a:t> </a:t>
            </a:r>
            <a:r>
              <a:rPr lang="en-US" dirty="0" err="1"/>
              <a:t>bộ</a:t>
            </a:r>
            <a:r>
              <a:rPr lang="en-US" dirty="0"/>
              <a:t> </a:t>
            </a:r>
            <a:r>
              <a:rPr lang="en-US" dirty="0" err="1"/>
              <a:t>điều</a:t>
            </a:r>
            <a:r>
              <a:rPr lang="en-US" dirty="0"/>
              <a:t> </a:t>
            </a:r>
            <a:r>
              <a:rPr lang="en-US" dirty="0" err="1"/>
              <a:t>phối</a:t>
            </a:r>
            <a:r>
              <a:rPr lang="en-US" dirty="0"/>
              <a:t> (orchestrator) </a:t>
            </a:r>
            <a:r>
              <a:rPr lang="en-US" dirty="0" err="1"/>
              <a:t>của</a:t>
            </a:r>
            <a:r>
              <a:rPr lang="en-US" dirty="0"/>
              <a:t> </a:t>
            </a:r>
            <a:r>
              <a:rPr lang="en-US" dirty="0" err="1"/>
              <a:t>toàn</a:t>
            </a:r>
            <a:r>
              <a:rPr lang="en-US" dirty="0"/>
              <a:t> </a:t>
            </a:r>
            <a:r>
              <a:rPr lang="en-US" dirty="0" err="1"/>
              <a:t>bộ</a:t>
            </a:r>
            <a:r>
              <a:rPr lang="en-US" dirty="0"/>
              <a:t> async method.</a:t>
            </a:r>
          </a:p>
          <a:p>
            <a:endParaRPr lang="en-US" dirty="0"/>
          </a:p>
          <a:p>
            <a:r>
              <a:rPr lang="en-US" dirty="0"/>
              <a:t>***</a:t>
            </a:r>
          </a:p>
          <a:p>
            <a:r>
              <a:rPr lang="en-US" b="1" dirty="0"/>
              <a:t>_state </a:t>
            </a:r>
            <a:r>
              <a:rPr lang="en-US" b="1" dirty="0" err="1"/>
              <a:t>là</a:t>
            </a:r>
            <a:r>
              <a:rPr lang="en-US" b="1" dirty="0"/>
              <a:t> </a:t>
            </a:r>
            <a:r>
              <a:rPr lang="en-US" b="1" dirty="0" err="1"/>
              <a:t>trạng</a:t>
            </a:r>
            <a:r>
              <a:rPr lang="en-US" b="1" dirty="0"/>
              <a:t> </a:t>
            </a:r>
            <a:r>
              <a:rPr lang="en-US" b="1" dirty="0" err="1"/>
              <a:t>thái</a:t>
            </a:r>
            <a:r>
              <a:rPr lang="en-US" b="1" dirty="0"/>
              <a:t> </a:t>
            </a:r>
            <a:r>
              <a:rPr lang="en-US" b="1" dirty="0" err="1"/>
              <a:t>của</a:t>
            </a:r>
            <a:r>
              <a:rPr lang="en-US" b="1" dirty="0"/>
              <a:t> state machine</a:t>
            </a:r>
          </a:p>
          <a:p>
            <a:r>
              <a:rPr lang="en-US" dirty="0"/>
              <a:t>Compiler </a:t>
            </a:r>
            <a:r>
              <a:rPr lang="en-US" dirty="0" err="1"/>
              <a:t>đổi</a:t>
            </a:r>
            <a:r>
              <a:rPr lang="en-US" dirty="0"/>
              <a:t> </a:t>
            </a:r>
            <a:r>
              <a:rPr lang="en-US" dirty="0" err="1"/>
              <a:t>một</a:t>
            </a:r>
            <a:r>
              <a:rPr lang="en-US" dirty="0"/>
              <a:t> async method </a:t>
            </a:r>
            <a:r>
              <a:rPr lang="en-US" dirty="0" err="1"/>
              <a:t>thành</a:t>
            </a:r>
            <a:r>
              <a:rPr lang="en-US" dirty="0"/>
              <a:t> </a:t>
            </a:r>
            <a:r>
              <a:rPr lang="en-US" dirty="0" err="1"/>
              <a:t>một</a:t>
            </a:r>
            <a:r>
              <a:rPr lang="en-US" dirty="0"/>
              <a:t> state machine </a:t>
            </a:r>
            <a:r>
              <a:rPr lang="en-US" dirty="0" err="1"/>
              <a:t>với</a:t>
            </a:r>
            <a:r>
              <a:rPr lang="en-US" dirty="0"/>
              <a:t> </a:t>
            </a:r>
            <a:r>
              <a:rPr lang="en-US" dirty="0" err="1"/>
              <a:t>các</a:t>
            </a:r>
            <a:r>
              <a:rPr lang="en-US" dirty="0"/>
              <a:t> "</a:t>
            </a:r>
            <a:r>
              <a:rPr lang="en-US" dirty="0" err="1"/>
              <a:t>điểm</a:t>
            </a:r>
            <a:r>
              <a:rPr lang="en-US" dirty="0"/>
              <a:t> </a:t>
            </a:r>
            <a:r>
              <a:rPr lang="en-US" dirty="0" err="1"/>
              <a:t>tạm</a:t>
            </a:r>
            <a:r>
              <a:rPr lang="en-US" dirty="0"/>
              <a:t> </a:t>
            </a:r>
            <a:r>
              <a:rPr lang="en-US" dirty="0" err="1"/>
              <a:t>dừng</a:t>
            </a:r>
            <a:r>
              <a:rPr lang="en-US" dirty="0"/>
              <a:t>" (yield point) </a:t>
            </a:r>
            <a:r>
              <a:rPr lang="en-US" dirty="0" err="1"/>
              <a:t>tại</a:t>
            </a:r>
            <a:r>
              <a:rPr lang="en-US" dirty="0"/>
              <a:t> </a:t>
            </a:r>
            <a:r>
              <a:rPr lang="en-US" dirty="0" err="1"/>
              <a:t>mỗi</a:t>
            </a:r>
            <a:r>
              <a:rPr lang="en-US" dirty="0"/>
              <a:t> </a:t>
            </a:r>
            <a:r>
              <a:rPr lang="en-US" sz="1200" kern="1200" dirty="0">
                <a:solidFill>
                  <a:schemeClr val="tx1"/>
                </a:solidFill>
                <a:latin typeface="+mn-lt"/>
                <a:ea typeface="+mn-ea"/>
                <a:cs typeface="+mn-cs"/>
              </a:rPr>
              <a:t>await</a:t>
            </a:r>
            <a:r>
              <a:rPr lang="en-US" dirty="0"/>
              <a:t>.</a:t>
            </a:r>
          </a:p>
          <a:p>
            <a:r>
              <a:rPr lang="en-US" b="1" dirty="0" err="1"/>
              <a:t>Chức</a:t>
            </a:r>
            <a:r>
              <a:rPr lang="en-US" b="1" dirty="0"/>
              <a:t> </a:t>
            </a:r>
            <a:r>
              <a:rPr lang="en-US" b="1" dirty="0" err="1"/>
              <a:t>năng</a:t>
            </a:r>
            <a:r>
              <a:rPr lang="en-US" b="1" dirty="0"/>
              <a:t> </a:t>
            </a:r>
            <a:r>
              <a:rPr lang="en-US" b="1" dirty="0" err="1"/>
              <a:t>của</a:t>
            </a:r>
            <a:r>
              <a:rPr lang="en-US" b="1" dirty="0"/>
              <a:t> </a:t>
            </a:r>
            <a:r>
              <a:rPr lang="en-US" sz="1200" b="1" kern="1200" dirty="0">
                <a:solidFill>
                  <a:schemeClr val="tx1"/>
                </a:solidFill>
                <a:latin typeface="+mn-lt"/>
                <a:ea typeface="+mn-ea"/>
                <a:cs typeface="+mn-cs"/>
              </a:rPr>
              <a:t>_state</a:t>
            </a:r>
            <a:r>
              <a:rPr lang="en-US" b="1" dirty="0"/>
              <a:t>:</a:t>
            </a:r>
          </a:p>
          <a:p>
            <a:r>
              <a:rPr lang="en-US" dirty="0" err="1"/>
              <a:t>Xác</a:t>
            </a:r>
            <a:r>
              <a:rPr lang="en-US" dirty="0"/>
              <a:t> </a:t>
            </a:r>
            <a:r>
              <a:rPr lang="en-US" dirty="0" err="1"/>
              <a:t>định</a:t>
            </a:r>
            <a:r>
              <a:rPr lang="en-US" dirty="0"/>
              <a:t> code </a:t>
            </a:r>
            <a:r>
              <a:rPr lang="en-US" dirty="0" err="1"/>
              <a:t>đang</a:t>
            </a:r>
            <a:r>
              <a:rPr lang="en-US" dirty="0"/>
              <a:t> </a:t>
            </a:r>
            <a:r>
              <a:rPr lang="en-US" dirty="0" err="1"/>
              <a:t>dừng</a:t>
            </a:r>
            <a:r>
              <a:rPr lang="en-US" dirty="0"/>
              <a:t> ở </a:t>
            </a:r>
            <a:r>
              <a:rPr lang="en-US" dirty="0" err="1"/>
              <a:t>đâu</a:t>
            </a:r>
            <a:r>
              <a:rPr lang="en-US" dirty="0"/>
              <a:t>.</a:t>
            </a:r>
          </a:p>
          <a:p>
            <a:r>
              <a:rPr lang="en-US" dirty="0"/>
              <a:t>Khi </a:t>
            </a:r>
            <a:r>
              <a:rPr lang="en-US" dirty="0" err="1"/>
              <a:t>awaiter</a:t>
            </a:r>
            <a:r>
              <a:rPr lang="en-US" dirty="0"/>
              <a:t> </a:t>
            </a:r>
            <a:r>
              <a:rPr lang="en-US" dirty="0" err="1"/>
              <a:t>gọi</a:t>
            </a:r>
            <a:r>
              <a:rPr lang="en-US" dirty="0"/>
              <a:t> </a:t>
            </a:r>
            <a:r>
              <a:rPr lang="en-US" dirty="0" err="1"/>
              <a:t>lại</a:t>
            </a:r>
            <a:r>
              <a:rPr lang="en-US" dirty="0"/>
              <a:t> state machine, compiler </a:t>
            </a:r>
            <a:r>
              <a:rPr lang="en-US" dirty="0" err="1"/>
              <a:t>dùng</a:t>
            </a:r>
            <a:r>
              <a:rPr lang="en-US" dirty="0"/>
              <a:t> </a:t>
            </a:r>
            <a:r>
              <a:rPr lang="en-US" sz="1200" kern="1200" dirty="0">
                <a:solidFill>
                  <a:schemeClr val="tx1"/>
                </a:solidFill>
                <a:latin typeface="+mn-lt"/>
                <a:ea typeface="+mn-ea"/>
                <a:cs typeface="+mn-cs"/>
              </a:rPr>
              <a:t>_state</a:t>
            </a:r>
            <a:r>
              <a:rPr lang="en-US" dirty="0"/>
              <a:t> </a:t>
            </a:r>
            <a:r>
              <a:rPr lang="en-US" dirty="0" err="1"/>
              <a:t>để</a:t>
            </a:r>
            <a:r>
              <a:rPr lang="en-US" dirty="0"/>
              <a:t> </a:t>
            </a:r>
            <a:r>
              <a:rPr lang="en-US" dirty="0" err="1"/>
              <a:t>biết</a:t>
            </a:r>
            <a:r>
              <a:rPr lang="en-US" dirty="0"/>
              <a:t>:</a:t>
            </a:r>
          </a:p>
          <a:p>
            <a:r>
              <a:rPr lang="en-US" dirty="0"/>
              <a:t>→ </a:t>
            </a:r>
            <a:r>
              <a:rPr lang="en-US" dirty="0" err="1"/>
              <a:t>tiếp</a:t>
            </a:r>
            <a:r>
              <a:rPr lang="en-US" dirty="0"/>
              <a:t> </a:t>
            </a:r>
            <a:r>
              <a:rPr lang="en-US" dirty="0" err="1"/>
              <a:t>tục</a:t>
            </a:r>
            <a:r>
              <a:rPr lang="en-US" dirty="0"/>
              <a:t> </a:t>
            </a:r>
            <a:r>
              <a:rPr lang="en-US" dirty="0" err="1"/>
              <a:t>chạy</a:t>
            </a:r>
            <a:r>
              <a:rPr lang="en-US" dirty="0"/>
              <a:t> </a:t>
            </a:r>
            <a:r>
              <a:rPr lang="en-US" dirty="0" err="1"/>
              <a:t>từ</a:t>
            </a:r>
            <a:r>
              <a:rPr lang="en-US" dirty="0"/>
              <a:t> </a:t>
            </a:r>
            <a:r>
              <a:rPr lang="en-US" dirty="0" err="1"/>
              <a:t>vị</a:t>
            </a:r>
            <a:r>
              <a:rPr lang="en-US" dirty="0"/>
              <a:t> </a:t>
            </a:r>
            <a:r>
              <a:rPr lang="en-US" dirty="0" err="1"/>
              <a:t>trí</a:t>
            </a:r>
            <a:r>
              <a:rPr lang="en-US" dirty="0"/>
              <a:t> </a:t>
            </a:r>
            <a:r>
              <a:rPr lang="en-US" dirty="0" err="1"/>
              <a:t>sau</a:t>
            </a:r>
            <a:r>
              <a:rPr lang="en-US" dirty="0"/>
              <a:t> </a:t>
            </a:r>
            <a:r>
              <a:rPr lang="en-US" sz="1200" kern="1200" dirty="0">
                <a:solidFill>
                  <a:schemeClr val="tx1"/>
                </a:solidFill>
                <a:latin typeface="+mn-lt"/>
                <a:ea typeface="+mn-ea"/>
                <a:cs typeface="+mn-cs"/>
              </a:rPr>
              <a:t>await</a:t>
            </a:r>
            <a:r>
              <a:rPr lang="en-US" dirty="0"/>
              <a:t>.</a:t>
            </a:r>
          </a:p>
          <a:p>
            <a:endParaRPr lang="en-US" dirty="0"/>
          </a:p>
          <a:p>
            <a:r>
              <a:rPr lang="en-US" dirty="0"/>
              <a:t>***</a:t>
            </a:r>
          </a:p>
          <a:p>
            <a:r>
              <a:rPr lang="vi-VN" b="1" dirty="0"/>
              <a:t>Chức năng của </a:t>
            </a:r>
            <a:r>
              <a:rPr lang="vi-VN" sz="1200" b="1" kern="1200" dirty="0">
                <a:solidFill>
                  <a:schemeClr val="tx1"/>
                </a:solidFill>
                <a:latin typeface="+mn-lt"/>
                <a:ea typeface="+mn-ea"/>
                <a:cs typeface="+mn-cs"/>
              </a:rPr>
              <a:t>_awaiter</a:t>
            </a:r>
            <a:r>
              <a:rPr lang="vi-VN" b="1" dirty="0"/>
              <a:t>:</a:t>
            </a:r>
          </a:p>
          <a:p>
            <a:r>
              <a:rPr lang="vi-VN" b="1" dirty="0"/>
              <a:t>Kiểm tra task hoàn thành chưa</a:t>
            </a:r>
            <a:endParaRPr lang="vi-VN" dirty="0"/>
          </a:p>
          <a:p>
            <a:pPr lvl="1"/>
            <a:r>
              <a:rPr lang="vi-VN" sz="1200" kern="1200" dirty="0">
                <a:solidFill>
                  <a:schemeClr val="tx1"/>
                </a:solidFill>
                <a:latin typeface="+mn-lt"/>
                <a:ea typeface="+mn-ea"/>
                <a:cs typeface="+mn-cs"/>
              </a:rPr>
              <a:t>IsCompleted == false</a:t>
            </a:r>
            <a:r>
              <a:rPr lang="vi-VN" dirty="0"/>
              <a:t>: phải suspend.</a:t>
            </a:r>
          </a:p>
          <a:p>
            <a:pPr lvl="1"/>
            <a:r>
              <a:rPr lang="vi-VN" sz="1200" kern="1200" dirty="0">
                <a:solidFill>
                  <a:schemeClr val="tx1"/>
                </a:solidFill>
                <a:latin typeface="+mn-lt"/>
                <a:ea typeface="+mn-ea"/>
                <a:cs typeface="+mn-cs"/>
              </a:rPr>
              <a:t>IsCompleted == true</a:t>
            </a:r>
            <a:r>
              <a:rPr lang="vi-VN" dirty="0"/>
              <a:t>: tiếp tục chạy ngay.</a:t>
            </a:r>
          </a:p>
          <a:p>
            <a:r>
              <a:rPr lang="vi-VN" b="1" dirty="0"/>
              <a:t>Lưu context + callback để khi task xong thì gọi lại state machine</a:t>
            </a:r>
            <a:br>
              <a:rPr lang="vi-VN" dirty="0"/>
            </a:br>
            <a:r>
              <a:rPr lang="vi-VN" sz="1200" kern="1200" dirty="0">
                <a:solidFill>
                  <a:schemeClr val="tx1"/>
                </a:solidFill>
                <a:latin typeface="+mn-lt"/>
                <a:ea typeface="+mn-ea"/>
                <a:cs typeface="+mn-cs"/>
              </a:rPr>
              <a:t>_awaiter.OnCompleted(stateMachine.MoveNext)</a:t>
            </a:r>
            <a:r>
              <a:rPr lang="vi-VN" dirty="0"/>
              <a:t> được builder thiết lập.</a:t>
            </a:r>
          </a:p>
          <a:p>
            <a:r>
              <a:rPr lang="vi-VN" b="1" dirty="0"/>
              <a:t>Khi có kết quả → lấy result</a:t>
            </a:r>
            <a:endParaRPr lang="vi-VN" dirty="0"/>
          </a:p>
          <a:p>
            <a:pPr lvl="1"/>
            <a:r>
              <a:rPr lang="vi-VN" sz="1200" kern="1200" dirty="0">
                <a:solidFill>
                  <a:schemeClr val="tx1"/>
                </a:solidFill>
                <a:latin typeface="+mn-lt"/>
                <a:ea typeface="+mn-ea"/>
                <a:cs typeface="+mn-cs"/>
              </a:rPr>
              <a:t>string contents = _awaiter.GetResult();</a:t>
            </a:r>
            <a:endParaRPr lang="vi-VN" dirty="0"/>
          </a:p>
          <a:p>
            <a:r>
              <a:rPr lang="en-US" dirty="0"/>
              <a:t>👉 </a:t>
            </a:r>
            <a:r>
              <a:rPr lang="vi-VN" b="1"/>
              <a:t>Nói ngắn gọn:</a:t>
            </a:r>
            <a:br>
              <a:rPr lang="vi-VN"/>
            </a:br>
            <a:r>
              <a:rPr lang="vi-VN" sz="1200" kern="1200">
                <a:solidFill>
                  <a:schemeClr val="tx1"/>
                </a:solidFill>
                <a:latin typeface="+mn-lt"/>
                <a:ea typeface="+mn-ea"/>
                <a:cs typeface="+mn-cs"/>
              </a:rPr>
              <a:t>_awaiter</a:t>
            </a:r>
            <a:r>
              <a:rPr lang="vi-VN"/>
              <a:t> là người theo dõi Task và gọi lại state machine khi Task xong.</a:t>
            </a:r>
          </a:p>
          <a:p>
            <a:endParaRPr lang="en-US" dirty="0"/>
          </a:p>
          <a:p>
            <a:endParaRPr lang="en-US" dirty="0"/>
          </a:p>
          <a:p>
            <a:r>
              <a:rPr lang="en-US" dirty="0"/>
              <a:t>***</a:t>
            </a:r>
          </a:p>
          <a:p>
            <a:r>
              <a:rPr lang="en-US" sz="1200" kern="1200" dirty="0" err="1">
                <a:solidFill>
                  <a:schemeClr val="tx1"/>
                </a:solidFill>
                <a:latin typeface="+mn-lt"/>
                <a:ea typeface="+mn-ea"/>
                <a:cs typeface="+mn-cs"/>
              </a:rPr>
              <a:t>AwaitUnsafeOnCompleted</a:t>
            </a:r>
            <a:r>
              <a:rPr lang="en-US" dirty="0"/>
              <a:t> = </a:t>
            </a:r>
            <a:r>
              <a:rPr lang="en-US" dirty="0" err="1"/>
              <a:t>không</a:t>
            </a:r>
            <a:r>
              <a:rPr lang="en-US" dirty="0"/>
              <a:t> </a:t>
            </a:r>
            <a:r>
              <a:rPr lang="en-US" dirty="0" err="1"/>
              <a:t>bắt</a:t>
            </a:r>
            <a:r>
              <a:rPr lang="en-US" dirty="0"/>
              <a:t> </a:t>
            </a:r>
            <a:r>
              <a:rPr lang="en-US" dirty="0" err="1"/>
              <a:t>buộc</a:t>
            </a:r>
            <a:r>
              <a:rPr lang="en-US" dirty="0"/>
              <a:t> </a:t>
            </a:r>
            <a:r>
              <a:rPr lang="en-US" dirty="0" err="1"/>
              <a:t>phải</a:t>
            </a:r>
            <a:r>
              <a:rPr lang="en-US" dirty="0"/>
              <a:t> resume </a:t>
            </a:r>
            <a:r>
              <a:rPr lang="en-US" dirty="0" err="1"/>
              <a:t>lại</a:t>
            </a:r>
            <a:r>
              <a:rPr lang="en-US" dirty="0"/>
              <a:t> </a:t>
            </a:r>
            <a:r>
              <a:rPr lang="en-US" dirty="0" err="1"/>
              <a:t>đúng</a:t>
            </a:r>
            <a:r>
              <a:rPr lang="en-US" dirty="0"/>
              <a:t> thread UI.</a:t>
            </a:r>
          </a:p>
          <a:p>
            <a:r>
              <a:rPr lang="en-US" sz="1200" kern="1200" dirty="0" err="1">
                <a:solidFill>
                  <a:schemeClr val="tx1"/>
                </a:solidFill>
                <a:latin typeface="+mn-lt"/>
                <a:ea typeface="+mn-ea"/>
                <a:cs typeface="+mn-cs"/>
              </a:rPr>
              <a:t>AwaitOnCompleted</a:t>
            </a:r>
            <a:r>
              <a:rPr lang="en-US" dirty="0"/>
              <a:t> = </a:t>
            </a:r>
            <a:r>
              <a:rPr lang="en-US" dirty="0" err="1"/>
              <a:t>đảm</a:t>
            </a:r>
            <a:r>
              <a:rPr lang="en-US" dirty="0"/>
              <a:t> </a:t>
            </a:r>
            <a:r>
              <a:rPr lang="en-US" dirty="0" err="1"/>
              <a:t>bảo</a:t>
            </a:r>
            <a:r>
              <a:rPr lang="en-US" dirty="0"/>
              <a:t> resume </a:t>
            </a:r>
            <a:r>
              <a:rPr lang="en-US" dirty="0" err="1"/>
              <a:t>lại</a:t>
            </a:r>
            <a:r>
              <a:rPr lang="en-US" dirty="0"/>
              <a:t> context </a:t>
            </a:r>
            <a:r>
              <a:rPr lang="en-US" dirty="0" err="1"/>
              <a:t>gốc</a:t>
            </a:r>
            <a:r>
              <a:rPr lang="en-US" dirty="0"/>
              <a:t> (UI thread, ASP.NET request context)</a:t>
            </a:r>
          </a:p>
          <a:p>
            <a:endParaRPr lang="vi-VN"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a:extLst>
              <a:ext uri="{FF2B5EF4-FFF2-40B4-BE49-F238E27FC236}">
                <a16:creationId xmlns:a16="http://schemas.microsoft.com/office/drawing/2014/main" id="{56B04E90-87B8-33A5-B690-202A39EF4B24}"/>
              </a:ext>
            </a:extLst>
          </p:cNvPr>
          <p:cNvSpPr>
            <a:spLocks noGrp="1"/>
          </p:cNvSpPr>
          <p:nvPr>
            <p:ph type="sldNum" sz="quarter" idx="5"/>
          </p:nvPr>
        </p:nvSpPr>
        <p:spPr/>
        <p:txBody>
          <a:bodyPr/>
          <a:lstStyle/>
          <a:p>
            <a:fld id="{520FF826-09D7-4BFB-A6F2-AAC85BBDF987}" type="slidenum">
              <a:rPr lang="en-US" smtClean="0"/>
              <a:t>10</a:t>
            </a:fld>
            <a:endParaRPr lang="en-US"/>
          </a:p>
        </p:txBody>
      </p:sp>
    </p:spTree>
    <p:extLst>
      <p:ext uri="{BB962C8B-B14F-4D97-AF65-F5344CB8AC3E}">
        <p14:creationId xmlns:p14="http://schemas.microsoft.com/office/powerpoint/2010/main" val="1068616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0FF826-09D7-4BFB-A6F2-AAC85BBDF987}" type="slidenum">
              <a:rPr lang="en-US" smtClean="0"/>
              <a:t>12</a:t>
            </a:fld>
            <a:endParaRPr lang="en-US"/>
          </a:p>
        </p:txBody>
      </p:sp>
    </p:spTree>
    <p:extLst>
      <p:ext uri="{BB962C8B-B14F-4D97-AF65-F5344CB8AC3E}">
        <p14:creationId xmlns:p14="http://schemas.microsoft.com/office/powerpoint/2010/main" val="3430648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Tổng</a:t>
            </a:r>
            <a:r>
              <a:rPr lang="en-US" dirty="0"/>
              <a:t> </a:t>
            </a:r>
            <a:r>
              <a:rPr lang="en-US" dirty="0" err="1"/>
              <a:t>kết</a:t>
            </a:r>
            <a:r>
              <a:rPr lang="en-US" dirty="0"/>
              <a:t> </a:t>
            </a:r>
            <a:r>
              <a:rPr lang="en-US" dirty="0" err="1"/>
              <a:t>lại</a:t>
            </a:r>
            <a:r>
              <a:rPr lang="en-US" dirty="0"/>
              <a:t> </a:t>
            </a:r>
            <a:r>
              <a:rPr lang="en-US" dirty="0" err="1"/>
              <a:t>buổi</a:t>
            </a:r>
            <a:r>
              <a:rPr lang="en-US" dirty="0"/>
              <a:t> </a:t>
            </a:r>
            <a:r>
              <a:rPr lang="en-US" dirty="0" err="1"/>
              <a:t>học</a:t>
            </a:r>
            <a:r>
              <a:rPr lang="en-US" dirty="0"/>
              <a:t> </a:t>
            </a:r>
            <a:r>
              <a:rPr lang="en-US" dirty="0" err="1"/>
              <a:t>sáng</a:t>
            </a:r>
            <a:r>
              <a:rPr lang="en-US" dirty="0"/>
              <a:t> </a:t>
            </a:r>
            <a:r>
              <a:rPr lang="en-US" dirty="0" err="1"/>
              <a:t>hôm</a:t>
            </a:r>
            <a:r>
              <a:rPr lang="en-US" dirty="0"/>
              <a:t> nay:</a:t>
            </a:r>
          </a:p>
        </p:txBody>
      </p:sp>
      <p:sp>
        <p:nvSpPr>
          <p:cNvPr id="4" name="Slide Number Placeholder 3"/>
          <p:cNvSpPr>
            <a:spLocks noGrp="1"/>
          </p:cNvSpPr>
          <p:nvPr>
            <p:ph type="sldNum" sz="quarter" idx="5"/>
          </p:nvPr>
        </p:nvSpPr>
        <p:spPr/>
        <p:txBody>
          <a:bodyPr/>
          <a:lstStyle/>
          <a:p>
            <a:fld id="{520FF826-09D7-4BFB-A6F2-AAC85BBDF987}" type="slidenum">
              <a:rPr lang="en-US" smtClean="0"/>
              <a:t>13</a:t>
            </a:fld>
            <a:endParaRPr lang="en-US"/>
          </a:p>
        </p:txBody>
      </p:sp>
    </p:spTree>
    <p:extLst>
      <p:ext uri="{BB962C8B-B14F-4D97-AF65-F5344CB8AC3E}">
        <p14:creationId xmlns:p14="http://schemas.microsoft.com/office/powerpoint/2010/main" val="1201034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9F3F-65DD-0065-52B8-35C81D066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DE50A1-EC22-4195-BEF7-0408B7A472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965B9B-10A3-2F0C-DDE5-4A456797351B}"/>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D124AB19-2EC0-BE66-7474-4C720DE197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21CBF-4772-70BA-9FAE-AD9F36CB1795}"/>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39977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DCF29-3F56-15E9-DC4D-70571B4C85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E57270-02F3-C5AD-D345-ECA27E604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B5D294-8713-B681-ABB6-690EE5996C5B}"/>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3E590556-DCA7-C745-3040-58F12DD342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F99F0C-8F12-90F0-BD0E-73B478D53358}"/>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3172334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4934D-7590-B6D1-7BB1-37115E2C3F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462BBD-88B1-26A4-DD34-F225EFF34B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61B500-D455-B7FF-D015-22D96EBB1E9A}"/>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20558F1E-8C2D-8A01-4FB4-1D3362129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F65C4-EB61-DAEA-C244-46F188898ED3}"/>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794552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F488-A34B-70FC-5AA1-C9029DB04C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1DA40-B3FF-CEE1-3E93-F1FBE8A9CF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51FC11-291D-AF8F-6314-FCD327FF5E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7639F1-B90C-8C96-7FBB-7D3A385C3DC3}"/>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6" name="Footer Placeholder 5">
            <a:extLst>
              <a:ext uri="{FF2B5EF4-FFF2-40B4-BE49-F238E27FC236}">
                <a16:creationId xmlns:a16="http://schemas.microsoft.com/office/drawing/2014/main" id="{43274FC9-6EE5-0F58-E0D1-CF72D5CCF5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868FE1-83A2-2E1E-49AF-DD26D277B44D}"/>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2571157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3D51-7F0E-DCF3-2F4F-8BD1156F78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EBC866-1797-EF20-1CCD-E8B7B96167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39CFD8-2A5E-0F77-A104-B17F9942E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6242A5-88C3-4FBC-2859-55EFBC457E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FACD70-3BEC-B643-75BA-0F499F0C6C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720063-E863-01CA-D1F7-FC285C951CDC}"/>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8" name="Footer Placeholder 7">
            <a:extLst>
              <a:ext uri="{FF2B5EF4-FFF2-40B4-BE49-F238E27FC236}">
                <a16:creationId xmlns:a16="http://schemas.microsoft.com/office/drawing/2014/main" id="{BD94C334-76E2-74A9-A07C-8D70D7BE5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BDB8C-009E-6BB1-5338-D6AEE3BCE958}"/>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175623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5401F-E5F1-2215-67A7-E66F0C21D8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7123AE-2A67-EE1D-865E-57D2B15D1350}"/>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4" name="Footer Placeholder 3">
            <a:extLst>
              <a:ext uri="{FF2B5EF4-FFF2-40B4-BE49-F238E27FC236}">
                <a16:creationId xmlns:a16="http://schemas.microsoft.com/office/drawing/2014/main" id="{B639BE14-F8FE-A0AB-D126-45B1BDE66A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B4ED74-DB8A-82D7-25B0-6902ABD66C8D}"/>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368891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202E08-7029-8246-6970-38C94A6E19EF}"/>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3" name="Footer Placeholder 2">
            <a:extLst>
              <a:ext uri="{FF2B5EF4-FFF2-40B4-BE49-F238E27FC236}">
                <a16:creationId xmlns:a16="http://schemas.microsoft.com/office/drawing/2014/main" id="{AD5C8669-0195-49B9-E645-9B876C2574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497EDF-B206-D481-DFC9-AD87216A409B}"/>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157319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7E21-3D67-EA52-845D-4E3677D918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12B33D-01ED-34D9-95FA-C3EF7CE4A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C60D3A-5B31-09E7-54E3-25249C4F2D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7C02A-CD14-4D4E-4DA3-545D6BB06F08}"/>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6" name="Footer Placeholder 5">
            <a:extLst>
              <a:ext uri="{FF2B5EF4-FFF2-40B4-BE49-F238E27FC236}">
                <a16:creationId xmlns:a16="http://schemas.microsoft.com/office/drawing/2014/main" id="{95BFF8C4-FA1C-8A96-7884-8A31786CDF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CF066C-7A1B-902E-976C-7535EFD3D1C7}"/>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265595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D501E-9CD6-FBA4-EA7C-0274AF915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F5AFAB-A38E-7582-564F-BADEA4F82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1A5C36-0582-6DE0-343E-410D4ECD30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9F991-193A-7AF4-FC57-31F1FA4FD27A}"/>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6" name="Footer Placeholder 5">
            <a:extLst>
              <a:ext uri="{FF2B5EF4-FFF2-40B4-BE49-F238E27FC236}">
                <a16:creationId xmlns:a16="http://schemas.microsoft.com/office/drawing/2014/main" id="{C3267BCB-0E48-C8D8-47F1-800C259DE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4674E0-A969-C28F-6961-74BED4196BFA}"/>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2525270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2E04-7F98-77B6-0DD9-69823572AA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1C4AAD-23AB-FCB0-629C-6310C3CEEC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60C75-9051-F90D-F162-4D6BF62DB947}"/>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E988E368-0920-BAC4-0DDB-EE4CBE2B6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D12D3-4C58-D9A9-79AD-CD0BEECCA0E9}"/>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4270705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DCE581-94B8-741B-5977-5FEADDA19D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064638-988D-2C31-1382-B964F73C5B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3BA84-E332-78AF-E853-D7AD6AD38D06}"/>
              </a:ext>
            </a:extLst>
          </p:cNvPr>
          <p:cNvSpPr>
            <a:spLocks noGrp="1"/>
          </p:cNvSpPr>
          <p:nvPr>
            <p:ph type="dt" sz="half" idx="10"/>
          </p:nvPr>
        </p:nvSpPr>
        <p:spPr/>
        <p:txBody>
          <a:body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4BBABC49-66E1-F787-9E13-7C6B32394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8D2D77-7A5F-08A9-C0FB-2BF64B09E7B7}"/>
              </a:ext>
            </a:extLst>
          </p:cNvPr>
          <p:cNvSpPr>
            <a:spLocks noGrp="1"/>
          </p:cNvSpPr>
          <p:nvPr>
            <p:ph type="sldNum" sz="quarter" idx="12"/>
          </p:nvPr>
        </p:nvSpPr>
        <p:spPr/>
        <p:txBody>
          <a:bodyPr/>
          <a:lstStyle/>
          <a:p>
            <a:fld id="{5AEC8C96-CAA4-4750-A4E9-6B5B75F6E6CF}" type="slidenum">
              <a:rPr lang="en-US" smtClean="0"/>
              <a:t>‹#›</a:t>
            </a:fld>
            <a:endParaRPr lang="en-US"/>
          </a:p>
        </p:txBody>
      </p:sp>
    </p:spTree>
    <p:extLst>
      <p:ext uri="{BB962C8B-B14F-4D97-AF65-F5344CB8AC3E}">
        <p14:creationId xmlns:p14="http://schemas.microsoft.com/office/powerpoint/2010/main" val="1396602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D0152F-B8A8-4048-E801-29EA7B401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CD8388-3BE0-171C-D75F-11B241322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5D45D8-7E38-C180-8270-C105945588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591025-0642-400A-887A-F48D37C74964}" type="datetimeFigureOut">
              <a:rPr lang="en-US" smtClean="0"/>
              <a:t>11/17/2025</a:t>
            </a:fld>
            <a:endParaRPr lang="en-US"/>
          </a:p>
        </p:txBody>
      </p:sp>
      <p:sp>
        <p:nvSpPr>
          <p:cNvPr id="5" name="Footer Placeholder 4">
            <a:extLst>
              <a:ext uri="{FF2B5EF4-FFF2-40B4-BE49-F238E27FC236}">
                <a16:creationId xmlns:a16="http://schemas.microsoft.com/office/drawing/2014/main" id="{05032B5B-080B-1ACA-156D-91F14263BA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1FE749-FF19-3429-08DB-61CDD134B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C8C96-CAA4-4750-A4E9-6B5B75F6E6CF}" type="slidenum">
              <a:rPr lang="en-US" smtClean="0"/>
              <a:t>‹#›</a:t>
            </a:fld>
            <a:endParaRPr lang="en-US"/>
          </a:p>
        </p:txBody>
      </p:sp>
    </p:spTree>
    <p:extLst>
      <p:ext uri="{BB962C8B-B14F-4D97-AF65-F5344CB8AC3E}">
        <p14:creationId xmlns:p14="http://schemas.microsoft.com/office/powerpoint/2010/main" val="3099027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dotnet/csharp/asynchronous-programming/async-return-type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EBC6-6CC2-C77C-EF5D-7920189D109C}"/>
              </a:ext>
            </a:extLst>
          </p:cNvPr>
          <p:cNvSpPr>
            <a:spLocks noGrp="1"/>
          </p:cNvSpPr>
          <p:nvPr>
            <p:ph type="ctrTitle"/>
          </p:nvPr>
        </p:nvSpPr>
        <p:spPr/>
        <p:txBody>
          <a:bodyPr/>
          <a:lstStyle/>
          <a:p>
            <a:r>
              <a:rPr lang="en-US" dirty="0"/>
              <a:t>Advance Asynchronous</a:t>
            </a:r>
          </a:p>
        </p:txBody>
      </p:sp>
      <p:sp>
        <p:nvSpPr>
          <p:cNvPr id="3" name="Subtitle 2">
            <a:extLst>
              <a:ext uri="{FF2B5EF4-FFF2-40B4-BE49-F238E27FC236}">
                <a16:creationId xmlns:a16="http://schemas.microsoft.com/office/drawing/2014/main" id="{505B5556-D15A-F333-3561-DEA0FDB3FCE3}"/>
              </a:ext>
            </a:extLst>
          </p:cNvPr>
          <p:cNvSpPr>
            <a:spLocks noGrp="1"/>
          </p:cNvSpPr>
          <p:nvPr>
            <p:ph type="subTitle" idx="1"/>
          </p:nvPr>
        </p:nvSpPr>
        <p:spPr/>
        <p:txBody>
          <a:bodyPr/>
          <a:lstStyle/>
          <a:p>
            <a:r>
              <a:rPr lang="en-US" dirty="0"/>
              <a:t>Team 3</a:t>
            </a:r>
          </a:p>
        </p:txBody>
      </p:sp>
    </p:spTree>
    <p:extLst>
      <p:ext uri="{BB962C8B-B14F-4D97-AF65-F5344CB8AC3E}">
        <p14:creationId xmlns:p14="http://schemas.microsoft.com/office/powerpoint/2010/main" val="328394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89515-9FE1-E5C0-4DBD-CE53B8D6F2A0}"/>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A2966587-FE05-CE7B-1797-26346D9AC240}"/>
              </a:ext>
            </a:extLst>
          </p:cNvPr>
          <p:cNvSpPr>
            <a:spLocks noGrp="1"/>
          </p:cNvSpPr>
          <p:nvPr>
            <p:ph idx="1"/>
          </p:nvPr>
        </p:nvSpPr>
        <p:spPr/>
        <p:txBody>
          <a:bodyPr/>
          <a:lstStyle/>
          <a:p>
            <a:pPr marL="514350" indent="-514350">
              <a:buFont typeface="+mj-lt"/>
              <a:buAutoNum type="arabicPeriod"/>
            </a:pPr>
            <a:r>
              <a:rPr lang="en-US" dirty="0"/>
              <a:t>Recap</a:t>
            </a:r>
          </a:p>
          <a:p>
            <a:pPr marL="514350" indent="-514350">
              <a:buFont typeface="+mj-lt"/>
              <a:buAutoNum type="arabicPeriod"/>
            </a:pPr>
            <a:r>
              <a:rPr lang="en-US" dirty="0"/>
              <a:t>State machine</a:t>
            </a:r>
          </a:p>
          <a:p>
            <a:pPr marL="514350" indent="-514350">
              <a:buFont typeface="+mj-lt"/>
              <a:buAutoNum type="arabicPeriod"/>
            </a:pPr>
            <a:r>
              <a:rPr lang="en-US" dirty="0" err="1"/>
              <a:t>SynchronizationContext</a:t>
            </a:r>
            <a:endParaRPr lang="en-US" dirty="0"/>
          </a:p>
          <a:p>
            <a:pPr marL="514350" indent="-514350">
              <a:buFont typeface="+mj-lt"/>
              <a:buAutoNum type="arabicPeriod"/>
            </a:pPr>
            <a:r>
              <a:rPr lang="en-US" dirty="0"/>
              <a:t>Handle Exception</a:t>
            </a:r>
          </a:p>
          <a:p>
            <a:pPr marL="514350" indent="-514350">
              <a:buFont typeface="+mj-lt"/>
              <a:buAutoNum type="arabicPeriod"/>
            </a:pPr>
            <a:endParaRPr lang="en-US" dirty="0"/>
          </a:p>
        </p:txBody>
      </p:sp>
    </p:spTree>
    <p:extLst>
      <p:ext uri="{BB962C8B-B14F-4D97-AF65-F5344CB8AC3E}">
        <p14:creationId xmlns:p14="http://schemas.microsoft.com/office/powerpoint/2010/main" val="1098075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1DBBB-4281-D75E-FEB5-55B1CD79ED15}"/>
              </a:ext>
            </a:extLst>
          </p:cNvPr>
          <p:cNvSpPr>
            <a:spLocks noGrp="1"/>
          </p:cNvSpPr>
          <p:nvPr>
            <p:ph type="title"/>
          </p:nvPr>
        </p:nvSpPr>
        <p:spPr/>
        <p:txBody>
          <a:bodyPr/>
          <a:lstStyle/>
          <a:p>
            <a:r>
              <a:rPr lang="en-US" dirty="0"/>
              <a:t>1. Recap</a:t>
            </a:r>
          </a:p>
        </p:txBody>
      </p:sp>
      <p:sp>
        <p:nvSpPr>
          <p:cNvPr id="3" name="Content Placeholder 2">
            <a:extLst>
              <a:ext uri="{FF2B5EF4-FFF2-40B4-BE49-F238E27FC236}">
                <a16:creationId xmlns:a16="http://schemas.microsoft.com/office/drawing/2014/main" id="{30BCED5C-8FA4-E351-D4C4-84C05C166D40}"/>
              </a:ext>
            </a:extLst>
          </p:cNvPr>
          <p:cNvSpPr>
            <a:spLocks noGrp="1"/>
          </p:cNvSpPr>
          <p:nvPr>
            <p:ph idx="1"/>
          </p:nvPr>
        </p:nvSpPr>
        <p:spPr/>
        <p:txBody>
          <a:bodyPr/>
          <a:lstStyle/>
          <a:p>
            <a:pPr marL="514350" indent="-514350">
              <a:buFont typeface="+mj-lt"/>
              <a:buAutoNum type="alphaLcParenR"/>
            </a:pPr>
            <a:r>
              <a:rPr lang="en-US" dirty="0"/>
              <a:t>What is asynchronous programming?</a:t>
            </a:r>
          </a:p>
          <a:p>
            <a:pPr marL="514350" indent="-514350">
              <a:buFont typeface="+mj-lt"/>
              <a:buAutoNum type="alphaLcParenR"/>
            </a:pPr>
            <a:r>
              <a:rPr lang="en-US" dirty="0"/>
              <a:t>What are advantages and disadvantages of asynchronous programming? When to use?</a:t>
            </a:r>
          </a:p>
          <a:p>
            <a:pPr marL="514350" indent="-514350">
              <a:buFont typeface="+mj-lt"/>
              <a:buAutoNum type="alphaLcParenR"/>
            </a:pPr>
            <a:r>
              <a:rPr lang="en-US" dirty="0"/>
              <a:t>Which types will Async methods return?</a:t>
            </a:r>
          </a:p>
          <a:p>
            <a:pPr marL="514350" indent="-514350">
              <a:buFont typeface="+mj-lt"/>
              <a:buAutoNum type="alphaLcParenR"/>
            </a:pPr>
            <a:r>
              <a:rPr lang="en-US" dirty="0"/>
              <a:t>How to cancel Tasks?</a:t>
            </a:r>
          </a:p>
          <a:p>
            <a:pPr marL="514350" indent="-514350">
              <a:buFont typeface="+mj-lt"/>
              <a:buAutoNum type="alphaLcParenR"/>
            </a:pPr>
            <a:r>
              <a:rPr lang="en-US" dirty="0"/>
              <a:t>Async-await method flow?</a:t>
            </a:r>
          </a:p>
        </p:txBody>
      </p:sp>
    </p:spTree>
    <p:extLst>
      <p:ext uri="{BB962C8B-B14F-4D97-AF65-F5344CB8AC3E}">
        <p14:creationId xmlns:p14="http://schemas.microsoft.com/office/powerpoint/2010/main" val="574623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A060D-0491-3C7C-0738-318D3D53B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0F6AD-17A3-F60E-EE98-DAA2AE9241FC}"/>
              </a:ext>
            </a:extLst>
          </p:cNvPr>
          <p:cNvSpPr>
            <a:spLocks noGrp="1"/>
          </p:cNvSpPr>
          <p:nvPr>
            <p:ph type="title"/>
          </p:nvPr>
        </p:nvSpPr>
        <p:spPr>
          <a:xfrm>
            <a:off x="838200" y="18256"/>
            <a:ext cx="10515600" cy="662781"/>
          </a:xfrm>
        </p:spPr>
        <p:txBody>
          <a:bodyPr>
            <a:normAutofit fontScale="90000"/>
          </a:bodyPr>
          <a:lstStyle/>
          <a:p>
            <a:r>
              <a:rPr lang="en-US" dirty="0"/>
              <a:t>1. Recap</a:t>
            </a:r>
          </a:p>
        </p:txBody>
      </p:sp>
      <p:sp>
        <p:nvSpPr>
          <p:cNvPr id="3" name="Content Placeholder 2">
            <a:extLst>
              <a:ext uri="{FF2B5EF4-FFF2-40B4-BE49-F238E27FC236}">
                <a16:creationId xmlns:a16="http://schemas.microsoft.com/office/drawing/2014/main" id="{68687C31-7A84-E88A-C15C-94CD0B0BC29C}"/>
              </a:ext>
            </a:extLst>
          </p:cNvPr>
          <p:cNvSpPr>
            <a:spLocks noGrp="1"/>
          </p:cNvSpPr>
          <p:nvPr>
            <p:ph idx="1"/>
          </p:nvPr>
        </p:nvSpPr>
        <p:spPr>
          <a:xfrm>
            <a:off x="838200" y="681037"/>
            <a:ext cx="10515600" cy="533166"/>
          </a:xfrm>
        </p:spPr>
        <p:txBody>
          <a:bodyPr/>
          <a:lstStyle/>
          <a:p>
            <a:pPr marL="514350" indent="-514350">
              <a:buFont typeface="+mj-lt"/>
              <a:buAutoNum type="alphaLcParenR"/>
            </a:pPr>
            <a:r>
              <a:rPr lang="en-US" dirty="0"/>
              <a:t>What is asynchronous programming?</a:t>
            </a:r>
          </a:p>
        </p:txBody>
      </p:sp>
      <p:sp>
        <p:nvSpPr>
          <p:cNvPr id="5" name="TextBox 4">
            <a:extLst>
              <a:ext uri="{FF2B5EF4-FFF2-40B4-BE49-F238E27FC236}">
                <a16:creationId xmlns:a16="http://schemas.microsoft.com/office/drawing/2014/main" id="{7D9C0821-8D62-41AF-DA1D-8E9A1B1FE122}"/>
              </a:ext>
            </a:extLst>
          </p:cNvPr>
          <p:cNvSpPr txBox="1"/>
          <p:nvPr/>
        </p:nvSpPr>
        <p:spPr>
          <a:xfrm>
            <a:off x="1250428" y="1415319"/>
            <a:ext cx="9968460" cy="1015663"/>
          </a:xfrm>
          <a:prstGeom prst="rect">
            <a:avLst/>
          </a:prstGeom>
          <a:noFill/>
        </p:spPr>
        <p:txBody>
          <a:bodyPr wrap="square">
            <a:spAutoFit/>
          </a:bodyPr>
          <a:lstStyle/>
          <a:p>
            <a:r>
              <a:rPr lang="en-US" sz="2000" b="1" dirty="0"/>
              <a:t>“Asynchronous programming is a technique that allows you to write code that will continue to execute without waiting for long-running operations to complete.”</a:t>
            </a:r>
            <a:br>
              <a:rPr lang="en-US" sz="2000" dirty="0"/>
            </a:br>
            <a:r>
              <a:rPr lang="en-US" sz="2000" dirty="0"/>
              <a:t>— </a:t>
            </a:r>
            <a:r>
              <a:rPr lang="en-US" sz="2000" i="1" dirty="0"/>
              <a:t>Source: Microsoft Learn – Asynchronous Programming with async and await (C#)</a:t>
            </a:r>
            <a:endParaRPr lang="en-US" sz="2000" dirty="0"/>
          </a:p>
        </p:txBody>
      </p:sp>
      <p:sp>
        <p:nvSpPr>
          <p:cNvPr id="14" name="TextBox 13">
            <a:extLst>
              <a:ext uri="{FF2B5EF4-FFF2-40B4-BE49-F238E27FC236}">
                <a16:creationId xmlns:a16="http://schemas.microsoft.com/office/drawing/2014/main" id="{607F6947-A0F4-4A7A-470C-127FBEC0F18E}"/>
              </a:ext>
            </a:extLst>
          </p:cNvPr>
          <p:cNvSpPr txBox="1"/>
          <p:nvPr/>
        </p:nvSpPr>
        <p:spPr>
          <a:xfrm>
            <a:off x="2466535" y="4329398"/>
            <a:ext cx="7258929" cy="132343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600" dirty="0">
                <a:solidFill>
                  <a:srgbClr val="000000"/>
                </a:solidFill>
                <a:latin typeface="Cascadia Mono" panose="020B0609020000020004" pitchFamily="49" charset="0"/>
              </a:rPr>
              <a:t>private void </a:t>
            </a:r>
            <a:r>
              <a:rPr lang="en-US" sz="1600" dirty="0" err="1">
                <a:solidFill>
                  <a:srgbClr val="000000"/>
                </a:solidFill>
                <a:latin typeface="Cascadia Mono" panose="020B0609020000020004" pitchFamily="49" charset="0"/>
              </a:rPr>
              <a:t>Button_Click</a:t>
            </a:r>
            <a:r>
              <a:rPr lang="en-US" sz="1600" dirty="0">
                <a:solidFill>
                  <a:srgbClr val="000000"/>
                </a:solidFill>
                <a:latin typeface="Cascadia Mono" panose="020B0609020000020004" pitchFamily="49" charset="0"/>
              </a:rPr>
              <a:t>(object sender, </a:t>
            </a:r>
            <a:r>
              <a:rPr lang="en-US" sz="1600" dirty="0" err="1">
                <a:solidFill>
                  <a:srgbClr val="000000"/>
                </a:solidFill>
                <a:latin typeface="Cascadia Mono" panose="020B0609020000020004" pitchFamily="49" charset="0"/>
              </a:rPr>
              <a:t>RoutedEventArgs</a:t>
            </a:r>
            <a:r>
              <a:rPr lang="en-US" sz="1600" dirty="0">
                <a:solidFill>
                  <a:srgbClr val="000000"/>
                </a:solidFill>
                <a:latin typeface="Cascadia Mono" panose="020B0609020000020004" pitchFamily="49" charset="0"/>
              </a:rPr>
              <a:t> e)</a:t>
            </a:r>
          </a:p>
          <a:p>
            <a:r>
              <a:rPr lang="en-US" sz="1600" dirty="0">
                <a:solidFill>
                  <a:srgbClr val="000000"/>
                </a:solidFill>
                <a:latin typeface="Cascadia Mono" panose="020B0609020000020004" pitchFamily="49" charset="0"/>
              </a:rPr>
              <a:t>{</a:t>
            </a:r>
          </a:p>
          <a:p>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Task.Run</a:t>
            </a:r>
            <a:r>
              <a:rPr lang="en-US" sz="1600" dirty="0">
                <a:solidFill>
                  <a:srgbClr val="000000"/>
                </a:solidFill>
                <a:latin typeface="Cascadia Mono" panose="020B0609020000020004" pitchFamily="49" charset="0"/>
              </a:rPr>
              <a:t>(() =&gt; </a:t>
            </a:r>
            <a:r>
              <a:rPr lang="en-US" sz="1600" dirty="0" err="1">
                <a:solidFill>
                  <a:srgbClr val="000000"/>
                </a:solidFill>
                <a:latin typeface="Cascadia Mono" panose="020B0609020000020004" pitchFamily="49" charset="0"/>
              </a:rPr>
              <a:t>DoHeavyWork</a:t>
            </a:r>
            <a:r>
              <a:rPr lang="en-US" sz="1600" dirty="0">
                <a:solidFill>
                  <a:srgbClr val="000000"/>
                </a:solidFill>
                <a:latin typeface="Cascadia Mono" panose="020B0609020000020004" pitchFamily="49" charset="0"/>
              </a:rPr>
              <a:t>());</a:t>
            </a:r>
          </a:p>
          <a:p>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TextBlockStatus.Text</a:t>
            </a:r>
            <a:r>
              <a:rPr lang="en-US" sz="1600" dirty="0">
                <a:solidFill>
                  <a:srgbClr val="000000"/>
                </a:solidFill>
                <a:latin typeface="Cascadia Mono" panose="020B0609020000020004" pitchFamily="49" charset="0"/>
              </a:rPr>
              <a:t> = $"Done: {result}";</a:t>
            </a:r>
          </a:p>
          <a:p>
            <a:r>
              <a:rPr lang="en-US" sz="1600" dirty="0">
                <a:solidFill>
                  <a:srgbClr val="000000"/>
                </a:solidFill>
                <a:latin typeface="Cascadia Mono" panose="020B0609020000020004" pitchFamily="49" charset="0"/>
              </a:rPr>
              <a:t>}</a:t>
            </a:r>
            <a:endParaRPr lang="en-US" sz="1600" dirty="0"/>
          </a:p>
        </p:txBody>
      </p:sp>
      <p:sp>
        <p:nvSpPr>
          <p:cNvPr id="15" name="TextBox 14">
            <a:extLst>
              <a:ext uri="{FF2B5EF4-FFF2-40B4-BE49-F238E27FC236}">
                <a16:creationId xmlns:a16="http://schemas.microsoft.com/office/drawing/2014/main" id="{E96E2AAE-1C14-5DA2-05B2-4F8B11E2A8CF}"/>
              </a:ext>
            </a:extLst>
          </p:cNvPr>
          <p:cNvSpPr txBox="1"/>
          <p:nvPr/>
        </p:nvSpPr>
        <p:spPr>
          <a:xfrm>
            <a:off x="1250428" y="3765803"/>
            <a:ext cx="9968460" cy="369332"/>
          </a:xfrm>
          <a:prstGeom prst="rect">
            <a:avLst/>
          </a:prstGeom>
          <a:noFill/>
        </p:spPr>
        <p:txBody>
          <a:bodyPr wrap="square">
            <a:spAutoFit/>
          </a:bodyPr>
          <a:lstStyle/>
          <a:p>
            <a:r>
              <a:rPr lang="en-US" dirty="0"/>
              <a:t>Is this method asynchronous programming?</a:t>
            </a:r>
          </a:p>
        </p:txBody>
      </p:sp>
    </p:spTree>
    <p:extLst>
      <p:ext uri="{BB962C8B-B14F-4D97-AF65-F5344CB8AC3E}">
        <p14:creationId xmlns:p14="http://schemas.microsoft.com/office/powerpoint/2010/main" val="2883167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F7D31-D00B-1DAB-AC52-EC1DC0316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5FF18-F81F-000C-42C2-C2D1A77B7DC0}"/>
              </a:ext>
            </a:extLst>
          </p:cNvPr>
          <p:cNvSpPr>
            <a:spLocks noGrp="1"/>
          </p:cNvSpPr>
          <p:nvPr>
            <p:ph type="title"/>
          </p:nvPr>
        </p:nvSpPr>
        <p:spPr>
          <a:xfrm>
            <a:off x="838200" y="18256"/>
            <a:ext cx="10515600" cy="662781"/>
          </a:xfrm>
        </p:spPr>
        <p:txBody>
          <a:bodyPr>
            <a:normAutofit fontScale="90000"/>
          </a:bodyPr>
          <a:lstStyle/>
          <a:p>
            <a:r>
              <a:rPr lang="en-US" dirty="0"/>
              <a:t>1. Recap</a:t>
            </a:r>
          </a:p>
        </p:txBody>
      </p:sp>
      <p:sp>
        <p:nvSpPr>
          <p:cNvPr id="3" name="Content Placeholder 2">
            <a:extLst>
              <a:ext uri="{FF2B5EF4-FFF2-40B4-BE49-F238E27FC236}">
                <a16:creationId xmlns:a16="http://schemas.microsoft.com/office/drawing/2014/main" id="{4C0DB274-35EE-FDCE-EDDF-E76E0338EC0C}"/>
              </a:ext>
            </a:extLst>
          </p:cNvPr>
          <p:cNvSpPr>
            <a:spLocks noGrp="1"/>
          </p:cNvSpPr>
          <p:nvPr>
            <p:ph idx="1"/>
          </p:nvPr>
        </p:nvSpPr>
        <p:spPr>
          <a:xfrm>
            <a:off x="838200" y="681037"/>
            <a:ext cx="10515600" cy="923330"/>
          </a:xfrm>
        </p:spPr>
        <p:txBody>
          <a:bodyPr>
            <a:normAutofit fontScale="85000" lnSpcReduction="10000"/>
          </a:bodyPr>
          <a:lstStyle/>
          <a:p>
            <a:pPr marL="514350" indent="-514350">
              <a:buFont typeface="+mj-lt"/>
              <a:buAutoNum type="alphaLcParenR" startAt="2"/>
            </a:pPr>
            <a:r>
              <a:rPr lang="en-US" dirty="0"/>
              <a:t>What are advantages and disadvantages of asynchronous programming? </a:t>
            </a:r>
          </a:p>
          <a:p>
            <a:pPr marL="0" indent="0">
              <a:buNone/>
            </a:pPr>
            <a:r>
              <a:rPr lang="en-US" dirty="0"/>
              <a:t>        When to use?</a:t>
            </a:r>
          </a:p>
        </p:txBody>
      </p:sp>
      <p:grpSp>
        <p:nvGrpSpPr>
          <p:cNvPr id="8" name="Group 7">
            <a:extLst>
              <a:ext uri="{FF2B5EF4-FFF2-40B4-BE49-F238E27FC236}">
                <a16:creationId xmlns:a16="http://schemas.microsoft.com/office/drawing/2014/main" id="{0DBF1121-E9C7-8F7E-54B6-860BFEA19B43}"/>
              </a:ext>
            </a:extLst>
          </p:cNvPr>
          <p:cNvGrpSpPr/>
          <p:nvPr/>
        </p:nvGrpSpPr>
        <p:grpSpPr>
          <a:xfrm>
            <a:off x="1350497" y="1804423"/>
            <a:ext cx="3896752" cy="2148600"/>
            <a:chOff x="1336429" y="1604367"/>
            <a:chExt cx="3094893" cy="2565247"/>
          </a:xfrm>
        </p:grpSpPr>
        <p:sp>
          <p:nvSpPr>
            <p:cNvPr id="4" name="TextBox 3">
              <a:extLst>
                <a:ext uri="{FF2B5EF4-FFF2-40B4-BE49-F238E27FC236}">
                  <a16:creationId xmlns:a16="http://schemas.microsoft.com/office/drawing/2014/main" id="{BCCE4001-E48D-8014-98C2-BB445ADB071F}"/>
                </a:ext>
              </a:extLst>
            </p:cNvPr>
            <p:cNvSpPr txBox="1"/>
            <p:nvPr/>
          </p:nvSpPr>
          <p:spPr>
            <a:xfrm>
              <a:off x="1336429" y="2138289"/>
              <a:ext cx="309489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Keeps the app responsive</a:t>
              </a:r>
            </a:p>
            <a:p>
              <a:pPr marL="285750" indent="-285750">
                <a:buFont typeface="Arial" panose="020B0604020202020204" pitchFamily="34" charset="0"/>
                <a:buChar char="•"/>
              </a:pPr>
              <a:r>
                <a:rPr lang="en-US" dirty="0"/>
                <a:t>Efficient for I/O-bound work</a:t>
              </a:r>
            </a:p>
            <a:p>
              <a:pPr marL="285750" indent="-285750">
                <a:buFont typeface="Arial" panose="020B0604020202020204" pitchFamily="34" charset="0"/>
                <a:buChar char="•"/>
              </a:pPr>
              <a:r>
                <a:rPr lang="en-US" dirty="0"/>
                <a:t>Async frees threads to handle more requests.</a:t>
              </a:r>
            </a:p>
            <a:p>
              <a:pPr marL="285750" indent="-285750">
                <a:buFont typeface="Arial" panose="020B0604020202020204" pitchFamily="34" charset="0"/>
                <a:buChar char="•"/>
              </a:pPr>
              <a:r>
                <a:rPr lang="en-US" dirty="0"/>
                <a:t>Cleaner code than callbacks</a:t>
              </a:r>
            </a:p>
          </p:txBody>
        </p:sp>
        <p:sp>
          <p:nvSpPr>
            <p:cNvPr id="7" name="TextBox 6">
              <a:extLst>
                <a:ext uri="{FF2B5EF4-FFF2-40B4-BE49-F238E27FC236}">
                  <a16:creationId xmlns:a16="http://schemas.microsoft.com/office/drawing/2014/main" id="{4A37F761-5D21-915C-408B-B8F638E49928}"/>
                </a:ext>
              </a:extLst>
            </p:cNvPr>
            <p:cNvSpPr txBox="1"/>
            <p:nvPr/>
          </p:nvSpPr>
          <p:spPr>
            <a:xfrm>
              <a:off x="1951892" y="1604367"/>
              <a:ext cx="1607234" cy="400110"/>
            </a:xfrm>
            <a:prstGeom prst="rect">
              <a:avLst/>
            </a:prstGeom>
            <a:noFill/>
          </p:spPr>
          <p:txBody>
            <a:bodyPr wrap="square">
              <a:spAutoFit/>
            </a:bodyPr>
            <a:lstStyle/>
            <a:p>
              <a:r>
                <a:rPr lang="en-US" sz="2000" b="1" dirty="0"/>
                <a:t>Advantages</a:t>
              </a:r>
              <a:endParaRPr lang="en-US" b="1" dirty="0"/>
            </a:p>
          </p:txBody>
        </p:sp>
      </p:grpSp>
      <p:grpSp>
        <p:nvGrpSpPr>
          <p:cNvPr id="9" name="Group 8">
            <a:extLst>
              <a:ext uri="{FF2B5EF4-FFF2-40B4-BE49-F238E27FC236}">
                <a16:creationId xmlns:a16="http://schemas.microsoft.com/office/drawing/2014/main" id="{8410D54A-6A09-9275-9962-73BF503D6BFC}"/>
              </a:ext>
            </a:extLst>
          </p:cNvPr>
          <p:cNvGrpSpPr/>
          <p:nvPr/>
        </p:nvGrpSpPr>
        <p:grpSpPr>
          <a:xfrm>
            <a:off x="6440657" y="1804422"/>
            <a:ext cx="5108918" cy="1924531"/>
            <a:chOff x="1336429" y="1604367"/>
            <a:chExt cx="3094893" cy="2297726"/>
          </a:xfrm>
        </p:grpSpPr>
        <p:sp>
          <p:nvSpPr>
            <p:cNvPr id="10" name="TextBox 9">
              <a:extLst>
                <a:ext uri="{FF2B5EF4-FFF2-40B4-BE49-F238E27FC236}">
                  <a16:creationId xmlns:a16="http://schemas.microsoft.com/office/drawing/2014/main" id="{91DC177E-4A30-2D5F-D158-D8FCC7364DFD}"/>
                </a:ext>
              </a:extLst>
            </p:cNvPr>
            <p:cNvSpPr txBox="1"/>
            <p:nvPr/>
          </p:nvSpPr>
          <p:spPr>
            <a:xfrm>
              <a:off x="1336429" y="2138289"/>
              <a:ext cx="3094893" cy="1763804"/>
            </a:xfrm>
            <a:prstGeom prst="rect">
              <a:avLst/>
            </a:prstGeom>
            <a:noFill/>
          </p:spPr>
          <p:txBody>
            <a:bodyPr wrap="square" rtlCol="0">
              <a:spAutoFit/>
            </a:bodyPr>
            <a:lstStyle/>
            <a:p>
              <a:pPr marL="285750" indent="-285750">
                <a:buFont typeface="Arial" panose="020B0604020202020204" pitchFamily="34" charset="0"/>
                <a:buChar char="•"/>
              </a:pPr>
              <a:r>
                <a:rPr lang="en-US" dirty="0"/>
                <a:t>Async debugging is more complex.</a:t>
              </a:r>
            </a:p>
            <a:p>
              <a:pPr marL="285750" indent="-285750">
                <a:buFont typeface="Arial" panose="020B0604020202020204" pitchFamily="34" charset="0"/>
                <a:buChar char="•"/>
              </a:pPr>
              <a:r>
                <a:rPr lang="en-US" dirty="0"/>
                <a:t>Not suitable for CPU-bound tasks</a:t>
              </a:r>
              <a:br>
                <a:rPr lang="en-US" dirty="0"/>
              </a:br>
              <a:r>
                <a:rPr lang="en-US" dirty="0"/>
                <a:t>(</a:t>
              </a:r>
              <a:r>
                <a:rPr lang="en-US" i="1" dirty="0"/>
                <a:t>using </a:t>
              </a:r>
              <a:r>
                <a:rPr lang="en-US" i="1" dirty="0" err="1"/>
                <a:t>Task.Run</a:t>
              </a:r>
              <a:r>
                <a:rPr lang="en-US" dirty="0"/>
                <a:t>)</a:t>
              </a:r>
            </a:p>
            <a:p>
              <a:pPr marL="285750" indent="-285750">
                <a:buFont typeface="Arial" panose="020B0604020202020204" pitchFamily="34" charset="0"/>
                <a:buChar char="•"/>
              </a:pPr>
              <a:r>
                <a:rPr lang="en-US" dirty="0"/>
                <a:t>Can easily cause deadlocks if misused</a:t>
              </a:r>
            </a:p>
            <a:p>
              <a:pPr marL="285750" indent="-285750">
                <a:buFont typeface="Arial" panose="020B0604020202020204" pitchFamily="34" charset="0"/>
                <a:buChar char="•"/>
              </a:pPr>
              <a:r>
                <a:rPr lang="en-US" dirty="0"/>
                <a:t>Overhead from state machine and scheduling</a:t>
              </a:r>
            </a:p>
          </p:txBody>
        </p:sp>
        <p:sp>
          <p:nvSpPr>
            <p:cNvPr id="11" name="TextBox 10">
              <a:extLst>
                <a:ext uri="{FF2B5EF4-FFF2-40B4-BE49-F238E27FC236}">
                  <a16:creationId xmlns:a16="http://schemas.microsoft.com/office/drawing/2014/main" id="{568AF970-85DF-B10D-C245-11D45A0CDBD3}"/>
                </a:ext>
              </a:extLst>
            </p:cNvPr>
            <p:cNvSpPr txBox="1"/>
            <p:nvPr/>
          </p:nvSpPr>
          <p:spPr>
            <a:xfrm>
              <a:off x="2015421" y="1604367"/>
              <a:ext cx="2026547" cy="400110"/>
            </a:xfrm>
            <a:prstGeom prst="rect">
              <a:avLst/>
            </a:prstGeom>
            <a:noFill/>
          </p:spPr>
          <p:txBody>
            <a:bodyPr wrap="square">
              <a:spAutoFit/>
            </a:bodyPr>
            <a:lstStyle/>
            <a:p>
              <a:r>
                <a:rPr lang="en-US" sz="2000" b="1" dirty="0"/>
                <a:t>Disadvantages</a:t>
              </a:r>
              <a:endParaRPr lang="en-US" b="1" dirty="0"/>
            </a:p>
          </p:txBody>
        </p:sp>
      </p:grpSp>
      <p:grpSp>
        <p:nvGrpSpPr>
          <p:cNvPr id="12" name="Group 11">
            <a:extLst>
              <a:ext uri="{FF2B5EF4-FFF2-40B4-BE49-F238E27FC236}">
                <a16:creationId xmlns:a16="http://schemas.microsoft.com/office/drawing/2014/main" id="{F2FB3C0D-72E8-0C14-E69F-87996DC7154F}"/>
              </a:ext>
            </a:extLst>
          </p:cNvPr>
          <p:cNvGrpSpPr/>
          <p:nvPr/>
        </p:nvGrpSpPr>
        <p:grpSpPr>
          <a:xfrm>
            <a:off x="1350497" y="4600281"/>
            <a:ext cx="5570808" cy="1080937"/>
            <a:chOff x="1336429" y="1616676"/>
            <a:chExt cx="4424468" cy="1290548"/>
          </a:xfrm>
        </p:grpSpPr>
        <p:sp>
          <p:nvSpPr>
            <p:cNvPr id="13" name="TextBox 12">
              <a:extLst>
                <a:ext uri="{FF2B5EF4-FFF2-40B4-BE49-F238E27FC236}">
                  <a16:creationId xmlns:a16="http://schemas.microsoft.com/office/drawing/2014/main" id="{76F90B31-BF85-1785-82EE-E9F84457C714}"/>
                </a:ext>
              </a:extLst>
            </p:cNvPr>
            <p:cNvSpPr txBox="1"/>
            <p:nvPr/>
          </p:nvSpPr>
          <p:spPr>
            <a:xfrm>
              <a:off x="1951892" y="2135559"/>
              <a:ext cx="3809005" cy="771665"/>
            </a:xfrm>
            <a:prstGeom prst="rect">
              <a:avLst/>
            </a:prstGeom>
            <a:noFill/>
          </p:spPr>
          <p:txBody>
            <a:bodyPr wrap="square" rtlCol="0">
              <a:spAutoFit/>
            </a:bodyPr>
            <a:lstStyle/>
            <a:p>
              <a:pPr marL="285750" indent="-285750">
                <a:buFont typeface="Arial" panose="020B0604020202020204" pitchFamily="34" charset="0"/>
                <a:buChar char="•"/>
              </a:pPr>
              <a:r>
                <a:rPr lang="en-US" dirty="0"/>
                <a:t> I/O-bound and CPU-bound scenarios</a:t>
              </a:r>
            </a:p>
            <a:p>
              <a:pPr marL="285750" indent="-285750">
                <a:buFont typeface="Arial" panose="020B0604020202020204" pitchFamily="34" charset="0"/>
                <a:buChar char="•"/>
              </a:pPr>
              <a:r>
                <a:rPr lang="en-US" dirty="0"/>
                <a:t>UI applications need to remain responsive</a:t>
              </a:r>
            </a:p>
          </p:txBody>
        </p:sp>
        <p:sp>
          <p:nvSpPr>
            <p:cNvPr id="14" name="TextBox 13">
              <a:extLst>
                <a:ext uri="{FF2B5EF4-FFF2-40B4-BE49-F238E27FC236}">
                  <a16:creationId xmlns:a16="http://schemas.microsoft.com/office/drawing/2014/main" id="{90D6518C-D680-26A1-76E3-636CF2B305EB}"/>
                </a:ext>
              </a:extLst>
            </p:cNvPr>
            <p:cNvSpPr txBox="1"/>
            <p:nvPr/>
          </p:nvSpPr>
          <p:spPr>
            <a:xfrm>
              <a:off x="1336429" y="1616676"/>
              <a:ext cx="1607234" cy="477698"/>
            </a:xfrm>
            <a:prstGeom prst="rect">
              <a:avLst/>
            </a:prstGeom>
            <a:noFill/>
          </p:spPr>
          <p:txBody>
            <a:bodyPr wrap="square">
              <a:spAutoFit/>
            </a:bodyPr>
            <a:lstStyle/>
            <a:p>
              <a:r>
                <a:rPr lang="en-US" sz="2000" b="1" dirty="0"/>
                <a:t>When to use?</a:t>
              </a:r>
              <a:endParaRPr lang="en-US" b="1" dirty="0"/>
            </a:p>
          </p:txBody>
        </p:sp>
      </p:grpSp>
    </p:spTree>
    <p:extLst>
      <p:ext uri="{BB962C8B-B14F-4D97-AF65-F5344CB8AC3E}">
        <p14:creationId xmlns:p14="http://schemas.microsoft.com/office/powerpoint/2010/main" val="1298414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9DE17-1581-CE44-B209-25119EC4B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41454-F238-3A72-BB05-1C03ED5070FC}"/>
              </a:ext>
            </a:extLst>
          </p:cNvPr>
          <p:cNvSpPr>
            <a:spLocks noGrp="1"/>
          </p:cNvSpPr>
          <p:nvPr>
            <p:ph type="title"/>
          </p:nvPr>
        </p:nvSpPr>
        <p:spPr>
          <a:xfrm>
            <a:off x="838200" y="18256"/>
            <a:ext cx="10515600" cy="662781"/>
          </a:xfrm>
        </p:spPr>
        <p:txBody>
          <a:bodyPr>
            <a:normAutofit fontScale="90000"/>
          </a:bodyPr>
          <a:lstStyle/>
          <a:p>
            <a:r>
              <a:rPr lang="en-US" dirty="0"/>
              <a:t>1. Recap</a:t>
            </a:r>
          </a:p>
        </p:txBody>
      </p:sp>
      <p:sp>
        <p:nvSpPr>
          <p:cNvPr id="3" name="Content Placeholder 2">
            <a:extLst>
              <a:ext uri="{FF2B5EF4-FFF2-40B4-BE49-F238E27FC236}">
                <a16:creationId xmlns:a16="http://schemas.microsoft.com/office/drawing/2014/main" id="{F515AE08-3618-E9F6-D91A-C745D1EFEC01}"/>
              </a:ext>
            </a:extLst>
          </p:cNvPr>
          <p:cNvSpPr>
            <a:spLocks noGrp="1"/>
          </p:cNvSpPr>
          <p:nvPr>
            <p:ph idx="1"/>
          </p:nvPr>
        </p:nvSpPr>
        <p:spPr>
          <a:xfrm>
            <a:off x="838200" y="681037"/>
            <a:ext cx="10515600" cy="495745"/>
          </a:xfrm>
        </p:spPr>
        <p:txBody>
          <a:bodyPr>
            <a:normAutofit/>
          </a:bodyPr>
          <a:lstStyle/>
          <a:p>
            <a:pPr marL="514350" indent="-514350">
              <a:buFont typeface="+mj-lt"/>
              <a:buAutoNum type="alphaLcParenR" startAt="3"/>
            </a:pPr>
            <a:r>
              <a:rPr lang="en-US" dirty="0"/>
              <a:t>Which types will Async methods return?</a:t>
            </a:r>
          </a:p>
        </p:txBody>
      </p:sp>
      <p:sp>
        <p:nvSpPr>
          <p:cNvPr id="6" name="TextBox 5">
            <a:extLst>
              <a:ext uri="{FF2B5EF4-FFF2-40B4-BE49-F238E27FC236}">
                <a16:creationId xmlns:a16="http://schemas.microsoft.com/office/drawing/2014/main" id="{DFA43E10-B456-7818-ECC2-8128272C8763}"/>
              </a:ext>
            </a:extLst>
          </p:cNvPr>
          <p:cNvSpPr txBox="1"/>
          <p:nvPr/>
        </p:nvSpPr>
        <p:spPr>
          <a:xfrm>
            <a:off x="838200" y="6470412"/>
            <a:ext cx="10866120" cy="369332"/>
          </a:xfrm>
          <a:prstGeom prst="rect">
            <a:avLst/>
          </a:prstGeom>
          <a:noFill/>
        </p:spPr>
        <p:txBody>
          <a:bodyPr wrap="square">
            <a:spAutoFit/>
          </a:bodyPr>
          <a:lstStyle/>
          <a:p>
            <a:r>
              <a:rPr lang="en-US" dirty="0">
                <a:hlinkClick r:id="rId3"/>
              </a:rPr>
              <a:t>https://learn.microsoft.com/en-us/dotnet/csharp/asynchronous-programming/async-return-types</a:t>
            </a:r>
            <a:endParaRPr lang="en-US" dirty="0"/>
          </a:p>
        </p:txBody>
      </p:sp>
      <p:graphicFrame>
        <p:nvGraphicFramePr>
          <p:cNvPr id="16" name="Table 15">
            <a:extLst>
              <a:ext uri="{FF2B5EF4-FFF2-40B4-BE49-F238E27FC236}">
                <a16:creationId xmlns:a16="http://schemas.microsoft.com/office/drawing/2014/main" id="{29F7ED17-1524-0788-C839-2EFFD17444F0}"/>
              </a:ext>
            </a:extLst>
          </p:cNvPr>
          <p:cNvGraphicFramePr>
            <a:graphicFrameLocks noGrp="1"/>
          </p:cNvGraphicFramePr>
          <p:nvPr>
            <p:extLst>
              <p:ext uri="{D42A27DB-BD31-4B8C-83A1-F6EECF244321}">
                <p14:modId xmlns:p14="http://schemas.microsoft.com/office/powerpoint/2010/main" val="423148696"/>
              </p:ext>
            </p:extLst>
          </p:nvPr>
        </p:nvGraphicFramePr>
        <p:xfrm>
          <a:off x="838200" y="1572277"/>
          <a:ext cx="10515600" cy="429768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3179712490"/>
                    </a:ext>
                  </a:extLst>
                </a:gridCol>
                <a:gridCol w="2877429">
                  <a:extLst>
                    <a:ext uri="{9D8B030D-6E8A-4147-A177-3AD203B41FA5}">
                      <a16:colId xmlns:a16="http://schemas.microsoft.com/office/drawing/2014/main" val="747943050"/>
                    </a:ext>
                  </a:extLst>
                </a:gridCol>
                <a:gridCol w="1997613">
                  <a:extLst>
                    <a:ext uri="{9D8B030D-6E8A-4147-A177-3AD203B41FA5}">
                      <a16:colId xmlns:a16="http://schemas.microsoft.com/office/drawing/2014/main" val="160081592"/>
                    </a:ext>
                  </a:extLst>
                </a:gridCol>
                <a:gridCol w="3011658">
                  <a:extLst>
                    <a:ext uri="{9D8B030D-6E8A-4147-A177-3AD203B41FA5}">
                      <a16:colId xmlns:a16="http://schemas.microsoft.com/office/drawing/2014/main" val="429801211"/>
                    </a:ext>
                  </a:extLst>
                </a:gridCol>
              </a:tblGrid>
              <a:tr h="0">
                <a:tc>
                  <a:txBody>
                    <a:bodyPr/>
                    <a:lstStyle/>
                    <a:p>
                      <a:pPr algn="ctr">
                        <a:buNone/>
                      </a:pPr>
                      <a:r>
                        <a:rPr lang="en-US" b="1"/>
                        <a:t>Return Type</a:t>
                      </a:r>
                      <a:endParaRPr lang="en-US" b="1" dirty="0"/>
                    </a:p>
                  </a:txBody>
                  <a:tcPr anchor="ctr"/>
                </a:tc>
                <a:tc>
                  <a:txBody>
                    <a:bodyPr/>
                    <a:lstStyle/>
                    <a:p>
                      <a:pPr algn="ctr">
                        <a:buNone/>
                      </a:pPr>
                      <a:r>
                        <a:rPr lang="en-US" b="1"/>
                        <a:t>Purpose</a:t>
                      </a:r>
                      <a:endParaRPr lang="en-US" b="1" dirty="0"/>
                    </a:p>
                  </a:txBody>
                  <a:tcPr anchor="ctr"/>
                </a:tc>
                <a:tc>
                  <a:txBody>
                    <a:bodyPr/>
                    <a:lstStyle/>
                    <a:p>
                      <a:pPr algn="ctr">
                        <a:buNone/>
                      </a:pPr>
                      <a:r>
                        <a:rPr lang="en-US" b="1" dirty="0"/>
                        <a:t>Can be awaited?</a:t>
                      </a:r>
                    </a:p>
                  </a:txBody>
                  <a:tcPr anchor="ctr"/>
                </a:tc>
                <a:tc>
                  <a:txBody>
                    <a:bodyPr/>
                    <a:lstStyle/>
                    <a:p>
                      <a:pPr algn="ctr">
                        <a:buNone/>
                      </a:pPr>
                      <a:r>
                        <a:rPr lang="en-US" sz="1800" b="1" kern="1200" dirty="0">
                          <a:solidFill>
                            <a:schemeClr val="tx1"/>
                          </a:solidFill>
                          <a:latin typeface="+mn-lt"/>
                          <a:ea typeface="+mn-ea"/>
                          <a:cs typeface="+mn-cs"/>
                        </a:rPr>
                        <a:t>Notes</a:t>
                      </a:r>
                    </a:p>
                  </a:txBody>
                  <a:tcPr anchor="ctr"/>
                </a:tc>
                <a:extLst>
                  <a:ext uri="{0D108BD9-81ED-4DB2-BD59-A6C34878D82A}">
                    <a16:rowId xmlns:a16="http://schemas.microsoft.com/office/drawing/2014/main" val="1370428442"/>
                  </a:ext>
                </a:extLst>
              </a:tr>
              <a:tr h="0">
                <a:tc>
                  <a:txBody>
                    <a:bodyPr/>
                    <a:lstStyle/>
                    <a:p>
                      <a:pPr>
                        <a:buNone/>
                      </a:pPr>
                      <a:r>
                        <a:rPr lang="en-US" b="1"/>
                        <a:t>Task</a:t>
                      </a:r>
                      <a:endParaRPr lang="en-US"/>
                    </a:p>
                  </a:txBody>
                  <a:tcPr anchor="ctr"/>
                </a:tc>
                <a:tc>
                  <a:txBody>
                    <a:bodyPr/>
                    <a:lstStyle/>
                    <a:p>
                      <a:pPr>
                        <a:buNone/>
                      </a:pPr>
                      <a:r>
                        <a:rPr lang="en-US" b="0" dirty="0"/>
                        <a:t>Async method that does not return a value</a:t>
                      </a:r>
                    </a:p>
                  </a:txBody>
                  <a:tcPr anchor="ctr"/>
                </a:tc>
                <a:tc>
                  <a:txBody>
                    <a:bodyPr/>
                    <a:lstStyle/>
                    <a:p>
                      <a:pPr algn="ctr">
                        <a:buNone/>
                      </a:pPr>
                      <a:r>
                        <a:rPr lang="en-US" b="0"/>
                        <a:t>Yes</a:t>
                      </a:r>
                      <a:endParaRPr lang="en-US" b="0" dirty="0"/>
                    </a:p>
                  </a:txBody>
                  <a:tcPr anchor="ctr"/>
                </a:tc>
                <a:tc>
                  <a:txBody>
                    <a:bodyPr/>
                    <a:lstStyle/>
                    <a:p>
                      <a:pPr>
                        <a:buNone/>
                      </a:pPr>
                      <a:r>
                        <a:rPr lang="en-US" sz="1800" b="0" kern="1200" dirty="0">
                          <a:solidFill>
                            <a:schemeClr val="tx1"/>
                          </a:solidFill>
                          <a:latin typeface="+mn-lt"/>
                          <a:ea typeface="+mn-ea"/>
                          <a:cs typeface="+mn-cs"/>
                        </a:rPr>
                        <a:t>Does not have a Result property</a:t>
                      </a:r>
                    </a:p>
                  </a:txBody>
                  <a:tcPr anchor="ctr"/>
                </a:tc>
                <a:extLst>
                  <a:ext uri="{0D108BD9-81ED-4DB2-BD59-A6C34878D82A}">
                    <a16:rowId xmlns:a16="http://schemas.microsoft.com/office/drawing/2014/main" val="4068216274"/>
                  </a:ext>
                </a:extLst>
              </a:tr>
              <a:tr h="0">
                <a:tc>
                  <a:txBody>
                    <a:bodyPr/>
                    <a:lstStyle/>
                    <a:p>
                      <a:pPr>
                        <a:buNone/>
                      </a:pPr>
                      <a:r>
                        <a:rPr lang="en-US" b="1"/>
                        <a:t>Task&lt;TResult&gt;</a:t>
                      </a:r>
                      <a:endParaRPr lang="en-US"/>
                    </a:p>
                  </a:txBody>
                  <a:tcPr anchor="ctr"/>
                </a:tc>
                <a:tc>
                  <a:txBody>
                    <a:bodyPr/>
                    <a:lstStyle/>
                    <a:p>
                      <a:pPr>
                        <a:buNone/>
                      </a:pPr>
                      <a:r>
                        <a:rPr lang="en-US" b="0"/>
                        <a:t>Async method that returns a value</a:t>
                      </a:r>
                      <a:endParaRPr lang="en-US" b="0" dirty="0"/>
                    </a:p>
                  </a:txBody>
                  <a:tcPr anchor="ctr"/>
                </a:tc>
                <a:tc>
                  <a:txBody>
                    <a:bodyPr/>
                    <a:lstStyle/>
                    <a:p>
                      <a:pPr algn="ctr">
                        <a:buNone/>
                      </a:pPr>
                      <a:r>
                        <a:rPr lang="en-US" b="0"/>
                        <a:t>Yes</a:t>
                      </a:r>
                    </a:p>
                  </a:txBody>
                  <a:tcPr anchor="ctr"/>
                </a:tc>
                <a:tc>
                  <a:txBody>
                    <a:bodyPr/>
                    <a:lstStyle/>
                    <a:p>
                      <a:pPr>
                        <a:buNone/>
                      </a:pPr>
                      <a:r>
                        <a:rPr lang="en-US" sz="1800" b="0" kern="1200" dirty="0">
                          <a:solidFill>
                            <a:schemeClr val="tx1"/>
                          </a:solidFill>
                          <a:latin typeface="+mn-lt"/>
                          <a:ea typeface="+mn-ea"/>
                          <a:cs typeface="+mn-cs"/>
                        </a:rPr>
                        <a:t>Accessing Result directly can block the thread → use await instead</a:t>
                      </a:r>
                    </a:p>
                  </a:txBody>
                  <a:tcPr anchor="ctr"/>
                </a:tc>
                <a:extLst>
                  <a:ext uri="{0D108BD9-81ED-4DB2-BD59-A6C34878D82A}">
                    <a16:rowId xmlns:a16="http://schemas.microsoft.com/office/drawing/2014/main" val="520241472"/>
                  </a:ext>
                </a:extLst>
              </a:tr>
              <a:tr h="0">
                <a:tc>
                  <a:txBody>
                    <a:bodyPr/>
                    <a:lstStyle/>
                    <a:p>
                      <a:pPr>
                        <a:buNone/>
                      </a:pPr>
                      <a:r>
                        <a:rPr lang="en-US" b="1"/>
                        <a:t>void</a:t>
                      </a:r>
                      <a:endParaRPr lang="en-US"/>
                    </a:p>
                  </a:txBody>
                  <a:tcPr anchor="ctr"/>
                </a:tc>
                <a:tc>
                  <a:txBody>
                    <a:bodyPr/>
                    <a:lstStyle/>
                    <a:p>
                      <a:pPr>
                        <a:buNone/>
                      </a:pPr>
                      <a:r>
                        <a:rPr lang="en-US" b="0"/>
                        <a:t>Only for event handlers</a:t>
                      </a:r>
                      <a:endParaRPr lang="en-US" b="0" dirty="0"/>
                    </a:p>
                  </a:txBody>
                  <a:tcPr anchor="ctr"/>
                </a:tc>
                <a:tc>
                  <a:txBody>
                    <a:bodyPr/>
                    <a:lstStyle/>
                    <a:p>
                      <a:pPr algn="ctr">
                        <a:buNone/>
                      </a:pPr>
                      <a:r>
                        <a:rPr lang="en-US" b="0"/>
                        <a:t>No</a:t>
                      </a:r>
                      <a:endParaRPr lang="en-US" b="0" dirty="0"/>
                    </a:p>
                  </a:txBody>
                  <a:tcPr anchor="ctr"/>
                </a:tc>
                <a:tc>
                  <a:txBody>
                    <a:bodyPr/>
                    <a:lstStyle/>
                    <a:p>
                      <a:pPr>
                        <a:buNone/>
                      </a:pPr>
                      <a:r>
                        <a:rPr lang="en-US" sz="1800" b="0" kern="1200" dirty="0">
                          <a:solidFill>
                            <a:schemeClr val="tx1"/>
                          </a:solidFill>
                          <a:latin typeface="+mn-lt"/>
                          <a:ea typeface="+mn-ea"/>
                          <a:cs typeface="+mn-cs"/>
                        </a:rPr>
                        <a:t>Should not be used for normal async methods; exceptions are harder to catch</a:t>
                      </a:r>
                    </a:p>
                  </a:txBody>
                  <a:tcPr anchor="ctr"/>
                </a:tc>
                <a:extLst>
                  <a:ext uri="{0D108BD9-81ED-4DB2-BD59-A6C34878D82A}">
                    <a16:rowId xmlns:a16="http://schemas.microsoft.com/office/drawing/2014/main" val="2232292156"/>
                  </a:ext>
                </a:extLst>
              </a:tr>
              <a:tr h="0">
                <a:tc>
                  <a:txBody>
                    <a:bodyPr/>
                    <a:lstStyle/>
                    <a:p>
                      <a:pPr>
                        <a:buNone/>
                      </a:pPr>
                      <a:r>
                        <a:rPr lang="en-US" b="1"/>
                        <a:t>ValueTask&lt;TResult&gt;</a:t>
                      </a:r>
                      <a:endParaRPr lang="en-US"/>
                    </a:p>
                  </a:txBody>
                  <a:tcPr anchor="ctr"/>
                </a:tc>
                <a:tc>
                  <a:txBody>
                    <a:bodyPr/>
                    <a:lstStyle/>
                    <a:p>
                      <a:pPr>
                        <a:buNone/>
                      </a:pPr>
                      <a:r>
                        <a:rPr lang="en-US" b="0"/>
                        <a:t>Async method returns a value, optimized for performance</a:t>
                      </a:r>
                    </a:p>
                  </a:txBody>
                  <a:tcPr anchor="ctr"/>
                </a:tc>
                <a:tc>
                  <a:txBody>
                    <a:bodyPr/>
                    <a:lstStyle/>
                    <a:p>
                      <a:pPr algn="ctr">
                        <a:buNone/>
                      </a:pPr>
                      <a:r>
                        <a:rPr lang="en-US" b="0"/>
                        <a:t>Yes</a:t>
                      </a:r>
                      <a:endParaRPr lang="en-US" b="0" dirty="0"/>
                    </a:p>
                  </a:txBody>
                  <a:tcPr anchor="ctr"/>
                </a:tc>
                <a:tc>
                  <a:txBody>
                    <a:bodyPr/>
                    <a:lstStyle/>
                    <a:p>
                      <a:pPr>
                        <a:buNone/>
                      </a:pPr>
                      <a:r>
                        <a:rPr lang="en-US" sz="1800" b="0" kern="1200" dirty="0">
                          <a:solidFill>
                            <a:schemeClr val="tx1"/>
                          </a:solidFill>
                          <a:latin typeface="+mn-lt"/>
                          <a:ea typeface="+mn-ea"/>
                          <a:cs typeface="+mn-cs"/>
                        </a:rPr>
                        <a:t>Can only await once, or convert to Task if needed multiple times; lightweight compared to Task</a:t>
                      </a:r>
                    </a:p>
                  </a:txBody>
                  <a:tcPr anchor="ctr"/>
                </a:tc>
                <a:extLst>
                  <a:ext uri="{0D108BD9-81ED-4DB2-BD59-A6C34878D82A}">
                    <a16:rowId xmlns:a16="http://schemas.microsoft.com/office/drawing/2014/main" val="4215711015"/>
                  </a:ext>
                </a:extLst>
              </a:tr>
            </a:tbl>
          </a:graphicData>
        </a:graphic>
      </p:graphicFrame>
    </p:spTree>
    <p:extLst>
      <p:ext uri="{BB962C8B-B14F-4D97-AF65-F5344CB8AC3E}">
        <p14:creationId xmlns:p14="http://schemas.microsoft.com/office/powerpoint/2010/main" val="3434713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0596-3450-A0F0-7D44-63C256525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3BFA8-7F18-40A0-3A95-989CE27F3B6C}"/>
              </a:ext>
            </a:extLst>
          </p:cNvPr>
          <p:cNvSpPr>
            <a:spLocks noGrp="1"/>
          </p:cNvSpPr>
          <p:nvPr>
            <p:ph type="title"/>
          </p:nvPr>
        </p:nvSpPr>
        <p:spPr>
          <a:xfrm>
            <a:off x="838200" y="18256"/>
            <a:ext cx="10515600" cy="662781"/>
          </a:xfrm>
        </p:spPr>
        <p:txBody>
          <a:bodyPr>
            <a:normAutofit fontScale="90000"/>
          </a:bodyPr>
          <a:lstStyle/>
          <a:p>
            <a:r>
              <a:rPr lang="en-US" dirty="0"/>
              <a:t>1. Recap</a:t>
            </a:r>
          </a:p>
        </p:txBody>
      </p:sp>
      <p:sp>
        <p:nvSpPr>
          <p:cNvPr id="3" name="Content Placeholder 2">
            <a:extLst>
              <a:ext uri="{FF2B5EF4-FFF2-40B4-BE49-F238E27FC236}">
                <a16:creationId xmlns:a16="http://schemas.microsoft.com/office/drawing/2014/main" id="{71F4AE76-6A51-8B31-8AC4-F2BB1C47404D}"/>
              </a:ext>
            </a:extLst>
          </p:cNvPr>
          <p:cNvSpPr>
            <a:spLocks noGrp="1"/>
          </p:cNvSpPr>
          <p:nvPr>
            <p:ph idx="1"/>
          </p:nvPr>
        </p:nvSpPr>
        <p:spPr>
          <a:xfrm>
            <a:off x="838200" y="681037"/>
            <a:ext cx="10515600" cy="476128"/>
          </a:xfrm>
        </p:spPr>
        <p:txBody>
          <a:bodyPr>
            <a:normAutofit lnSpcReduction="10000"/>
          </a:bodyPr>
          <a:lstStyle/>
          <a:p>
            <a:pPr marL="514350" indent="-514350">
              <a:buFont typeface="+mj-lt"/>
              <a:buAutoNum type="alphaLcParenR" startAt="4"/>
            </a:pPr>
            <a:r>
              <a:rPr lang="en-US" dirty="0"/>
              <a:t>How to cancel Tasks?</a:t>
            </a:r>
          </a:p>
        </p:txBody>
      </p:sp>
      <p:sp>
        <p:nvSpPr>
          <p:cNvPr id="6" name="TextBox 5">
            <a:extLst>
              <a:ext uri="{FF2B5EF4-FFF2-40B4-BE49-F238E27FC236}">
                <a16:creationId xmlns:a16="http://schemas.microsoft.com/office/drawing/2014/main" id="{AFA37910-EFC2-8030-2C55-9765E85AA4BB}"/>
              </a:ext>
            </a:extLst>
          </p:cNvPr>
          <p:cNvSpPr txBox="1"/>
          <p:nvPr/>
        </p:nvSpPr>
        <p:spPr>
          <a:xfrm>
            <a:off x="1077351" y="1343818"/>
            <a:ext cx="8838028" cy="369332"/>
          </a:xfrm>
          <a:prstGeom prst="rect">
            <a:avLst/>
          </a:prstGeom>
          <a:noFill/>
        </p:spPr>
        <p:txBody>
          <a:bodyPr wrap="square">
            <a:spAutoFit/>
          </a:bodyPr>
          <a:lstStyle/>
          <a:p>
            <a:r>
              <a:rPr lang="en-US" b="0" i="0" dirty="0">
                <a:solidFill>
                  <a:srgbClr val="161616"/>
                </a:solidFill>
                <a:effectLst/>
                <a:latin typeface="Segoe UI" panose="020B0502040204020203" pitchFamily="34" charset="0"/>
              </a:rPr>
              <a:t>You can cancel an asynchronous</a:t>
            </a:r>
            <a:r>
              <a:rPr lang="en-US" dirty="0">
                <a:solidFill>
                  <a:srgbClr val="161616"/>
                </a:solidFill>
                <a:latin typeface="Segoe UI" panose="020B0502040204020203" pitchFamily="34" charset="0"/>
              </a:rPr>
              <a:t> method</a:t>
            </a:r>
            <a:r>
              <a:rPr lang="en-US" b="0" i="0" dirty="0">
                <a:solidFill>
                  <a:srgbClr val="161616"/>
                </a:solidFill>
                <a:effectLst/>
                <a:latin typeface="Segoe UI" panose="020B0502040204020203" pitchFamily="34" charset="0"/>
              </a:rPr>
              <a:t> if you don't want to wait for it to finish.</a:t>
            </a:r>
            <a:endParaRPr lang="en-US" dirty="0"/>
          </a:p>
        </p:txBody>
      </p:sp>
      <p:sp>
        <p:nvSpPr>
          <p:cNvPr id="22" name="TextBox 21">
            <a:extLst>
              <a:ext uri="{FF2B5EF4-FFF2-40B4-BE49-F238E27FC236}">
                <a16:creationId xmlns:a16="http://schemas.microsoft.com/office/drawing/2014/main" id="{F7B20A46-D190-4796-63D0-BD5155B535ED}"/>
              </a:ext>
            </a:extLst>
          </p:cNvPr>
          <p:cNvSpPr txBox="1"/>
          <p:nvPr/>
        </p:nvSpPr>
        <p:spPr>
          <a:xfrm>
            <a:off x="1839350" y="2136338"/>
            <a:ext cx="6098344" cy="2585323"/>
          </a:xfrm>
          <a:prstGeom prst="rect">
            <a:avLst/>
          </a:prstGeom>
          <a:noFill/>
        </p:spPr>
        <p:txBody>
          <a:bodyPr wrap="square">
            <a:spAutoFit/>
          </a:bodyPr>
          <a:lstStyle/>
          <a:p>
            <a:r>
              <a:rPr lang="en-US" b="1" dirty="0"/>
              <a:t>Step 1. </a:t>
            </a:r>
            <a:r>
              <a:rPr lang="en-US" dirty="0"/>
              <a:t>Instantiate </a:t>
            </a:r>
            <a:r>
              <a:rPr lang="en-US" dirty="0" err="1"/>
              <a:t>CancellationTokenSource</a:t>
            </a:r>
            <a:endParaRPr lang="en-US" dirty="0"/>
          </a:p>
          <a:p>
            <a:endParaRPr lang="en-US" dirty="0"/>
          </a:p>
          <a:p>
            <a:r>
              <a:rPr lang="en-US" b="1" dirty="0"/>
              <a:t>Step 2. </a:t>
            </a:r>
            <a:r>
              <a:rPr lang="en-US" dirty="0"/>
              <a:t>Pass the token (</a:t>
            </a:r>
            <a:r>
              <a:rPr lang="en-US" dirty="0" err="1"/>
              <a:t>CancellationTokenSource.Token</a:t>
            </a:r>
            <a:r>
              <a:rPr lang="en-US" dirty="0"/>
              <a:t>)</a:t>
            </a:r>
          </a:p>
          <a:p>
            <a:endParaRPr lang="en-US" dirty="0"/>
          </a:p>
          <a:p>
            <a:r>
              <a:rPr lang="en-US" b="1" dirty="0"/>
              <a:t>Step 3. </a:t>
            </a:r>
            <a:r>
              <a:rPr lang="en-US" dirty="0"/>
              <a:t>Check for cancellation in operations</a:t>
            </a:r>
          </a:p>
          <a:p>
            <a:endParaRPr lang="en-US" dirty="0"/>
          </a:p>
          <a:p>
            <a:r>
              <a:rPr lang="en-US" b="1" dirty="0"/>
              <a:t>Step 4. </a:t>
            </a:r>
            <a:r>
              <a:rPr lang="en-US" dirty="0"/>
              <a:t>Send cancellation notification</a:t>
            </a:r>
          </a:p>
          <a:p>
            <a:endParaRPr lang="en-US" dirty="0"/>
          </a:p>
          <a:p>
            <a:r>
              <a:rPr lang="en-US" b="1" dirty="0"/>
              <a:t>Step 5. </a:t>
            </a:r>
            <a:r>
              <a:rPr lang="en-US" dirty="0"/>
              <a:t>Dispose the object</a:t>
            </a:r>
          </a:p>
        </p:txBody>
      </p:sp>
    </p:spTree>
    <p:extLst>
      <p:ext uri="{BB962C8B-B14F-4D97-AF65-F5344CB8AC3E}">
        <p14:creationId xmlns:p14="http://schemas.microsoft.com/office/powerpoint/2010/main" val="3200204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D7B7D-48B1-D37A-871F-96D9561C9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9C993-8E93-1E6D-F3E7-7FCC578BD983}"/>
              </a:ext>
            </a:extLst>
          </p:cNvPr>
          <p:cNvSpPr>
            <a:spLocks noGrp="1"/>
          </p:cNvSpPr>
          <p:nvPr>
            <p:ph type="title"/>
          </p:nvPr>
        </p:nvSpPr>
        <p:spPr>
          <a:xfrm>
            <a:off x="838200" y="18256"/>
            <a:ext cx="10515600" cy="662781"/>
          </a:xfrm>
        </p:spPr>
        <p:txBody>
          <a:bodyPr>
            <a:normAutofit fontScale="90000"/>
          </a:bodyPr>
          <a:lstStyle/>
          <a:p>
            <a:r>
              <a:rPr lang="en-US" dirty="0"/>
              <a:t>1. Recap</a:t>
            </a:r>
          </a:p>
        </p:txBody>
      </p:sp>
      <p:sp>
        <p:nvSpPr>
          <p:cNvPr id="3" name="Content Placeholder 2">
            <a:extLst>
              <a:ext uri="{FF2B5EF4-FFF2-40B4-BE49-F238E27FC236}">
                <a16:creationId xmlns:a16="http://schemas.microsoft.com/office/drawing/2014/main" id="{115AF9A3-2427-8973-41D3-49C6F29B5636}"/>
              </a:ext>
            </a:extLst>
          </p:cNvPr>
          <p:cNvSpPr>
            <a:spLocks noGrp="1"/>
          </p:cNvSpPr>
          <p:nvPr>
            <p:ph idx="1"/>
          </p:nvPr>
        </p:nvSpPr>
        <p:spPr>
          <a:xfrm>
            <a:off x="838200" y="681037"/>
            <a:ext cx="10515600" cy="533166"/>
          </a:xfrm>
        </p:spPr>
        <p:txBody>
          <a:bodyPr/>
          <a:lstStyle/>
          <a:p>
            <a:pPr marL="514350" indent="-514350">
              <a:buFont typeface="+mj-lt"/>
              <a:buAutoNum type="alphaLcParenR" startAt="5"/>
            </a:pPr>
            <a:r>
              <a:rPr lang="en-US" dirty="0"/>
              <a:t>Async-await method flow?</a:t>
            </a:r>
          </a:p>
        </p:txBody>
      </p:sp>
      <p:pic>
        <p:nvPicPr>
          <p:cNvPr id="9" name="Picture 8" descr="A screenshot of a computer program&#10;&#10;AI-generated content may be incorrect.">
            <a:extLst>
              <a:ext uri="{FF2B5EF4-FFF2-40B4-BE49-F238E27FC236}">
                <a16:creationId xmlns:a16="http://schemas.microsoft.com/office/drawing/2014/main" id="{14601F73-D8D9-AEDE-A9D5-010D80AE60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3143" y="1343818"/>
            <a:ext cx="8080078" cy="5384083"/>
          </a:xfrm>
          <a:prstGeom prst="rect">
            <a:avLst/>
          </a:prstGeom>
        </p:spPr>
      </p:pic>
    </p:spTree>
    <p:extLst>
      <p:ext uri="{BB962C8B-B14F-4D97-AF65-F5344CB8AC3E}">
        <p14:creationId xmlns:p14="http://schemas.microsoft.com/office/powerpoint/2010/main" val="343248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FECA9-3C81-33A1-D2C3-6641E34D8A1F}"/>
              </a:ext>
            </a:extLst>
          </p:cNvPr>
          <p:cNvSpPr>
            <a:spLocks noGrp="1"/>
          </p:cNvSpPr>
          <p:nvPr>
            <p:ph type="title"/>
          </p:nvPr>
        </p:nvSpPr>
        <p:spPr/>
        <p:txBody>
          <a:bodyPr/>
          <a:lstStyle/>
          <a:p>
            <a:r>
              <a:rPr lang="en-US" dirty="0"/>
              <a:t>2. State machine</a:t>
            </a:r>
          </a:p>
        </p:txBody>
      </p:sp>
      <p:sp>
        <p:nvSpPr>
          <p:cNvPr id="3" name="Content Placeholder 2">
            <a:extLst>
              <a:ext uri="{FF2B5EF4-FFF2-40B4-BE49-F238E27FC236}">
                <a16:creationId xmlns:a16="http://schemas.microsoft.com/office/drawing/2014/main" id="{97F7DB92-A8EA-85C1-33DC-8BAB6751806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5227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F3F2-4B9E-71DE-10D4-34C2086F6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D7DCE-66B1-C5CE-B6B0-BCB798D17333}"/>
              </a:ext>
            </a:extLst>
          </p:cNvPr>
          <p:cNvSpPr>
            <a:spLocks noGrp="1"/>
          </p:cNvSpPr>
          <p:nvPr>
            <p:ph type="title"/>
          </p:nvPr>
        </p:nvSpPr>
        <p:spPr/>
        <p:txBody>
          <a:bodyPr/>
          <a:lstStyle/>
          <a:p>
            <a:r>
              <a:rPr lang="en-US" dirty="0"/>
              <a:t>2. State machine</a:t>
            </a:r>
          </a:p>
        </p:txBody>
      </p:sp>
      <p:sp>
        <p:nvSpPr>
          <p:cNvPr id="3" name="Content Placeholder 2">
            <a:extLst>
              <a:ext uri="{FF2B5EF4-FFF2-40B4-BE49-F238E27FC236}">
                <a16:creationId xmlns:a16="http://schemas.microsoft.com/office/drawing/2014/main" id="{6BC159D5-0671-40F1-6F22-B9DF5EDC8DC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806403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C05C-0BD4-79BF-61DA-FF726A1D4E9E}"/>
              </a:ext>
            </a:extLst>
          </p:cNvPr>
          <p:cNvSpPr>
            <a:spLocks noGrp="1"/>
          </p:cNvSpPr>
          <p:nvPr>
            <p:ph type="title"/>
          </p:nvPr>
        </p:nvSpPr>
        <p:spPr/>
        <p:txBody>
          <a:bodyPr/>
          <a:lstStyle/>
          <a:p>
            <a:r>
              <a:rPr lang="en-US" dirty="0"/>
              <a:t>3. </a:t>
            </a:r>
            <a:r>
              <a:rPr lang="en-US" dirty="0" err="1"/>
              <a:t>SyncronizationContext</a:t>
            </a:r>
            <a:endParaRPr lang="en-US" dirty="0"/>
          </a:p>
        </p:txBody>
      </p:sp>
      <p:sp>
        <p:nvSpPr>
          <p:cNvPr id="3" name="Content Placeholder 2">
            <a:extLst>
              <a:ext uri="{FF2B5EF4-FFF2-40B4-BE49-F238E27FC236}">
                <a16:creationId xmlns:a16="http://schemas.microsoft.com/office/drawing/2014/main" id="{8EC72F53-E1EC-0E8C-F5D2-D32659876E2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17647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93B5-6F55-79DE-AB00-11DBC00570F9}"/>
              </a:ext>
            </a:extLst>
          </p:cNvPr>
          <p:cNvSpPr>
            <a:spLocks noGrp="1"/>
          </p:cNvSpPr>
          <p:nvPr>
            <p:ph type="title"/>
          </p:nvPr>
        </p:nvSpPr>
        <p:spPr/>
        <p:txBody>
          <a:bodyPr/>
          <a:lstStyle/>
          <a:p>
            <a:r>
              <a:rPr lang="en-US" dirty="0"/>
              <a:t>4. Handle Exception</a:t>
            </a:r>
          </a:p>
        </p:txBody>
      </p:sp>
      <p:sp>
        <p:nvSpPr>
          <p:cNvPr id="3" name="Content Placeholder 2">
            <a:extLst>
              <a:ext uri="{FF2B5EF4-FFF2-40B4-BE49-F238E27FC236}">
                <a16:creationId xmlns:a16="http://schemas.microsoft.com/office/drawing/2014/main" id="{47DFE2CB-77E0-C7EE-596A-BE4A762D7D5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82740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08AAF-1767-76DF-49F8-472404E23C80}"/>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68B7FBD1-F72B-889A-94B4-1065C1BFDE6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68792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TotalTime>
  <Words>2226</Words>
  <Application>Microsoft Office PowerPoint</Application>
  <PresentationFormat>Widescreen</PresentationFormat>
  <Paragraphs>203</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Cascadia Mono</vt:lpstr>
      <vt:lpstr>Segoe UI</vt:lpstr>
      <vt:lpstr>Office Theme</vt:lpstr>
      <vt:lpstr>Advance Asynchronous</vt:lpstr>
      <vt:lpstr>Content</vt:lpstr>
      <vt:lpstr>1. Recap</vt:lpstr>
      <vt:lpstr>1. Recap</vt:lpstr>
      <vt:lpstr>1. Recap</vt:lpstr>
      <vt:lpstr>1. Recap</vt:lpstr>
      <vt:lpstr>1. Recap</vt:lpstr>
      <vt:lpstr>1. Recap</vt:lpstr>
      <vt:lpstr>2. State machine</vt:lpstr>
      <vt:lpstr>2. State machine</vt:lpstr>
      <vt:lpstr>3. SyncronizationContext</vt:lpstr>
      <vt:lpstr>4. Handle Exception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 Vuong</dc:creator>
  <cp:lastModifiedBy>Anh Vuong</cp:lastModifiedBy>
  <cp:revision>36</cp:revision>
  <dcterms:created xsi:type="dcterms:W3CDTF">2025-11-17T14:29:14Z</dcterms:created>
  <dcterms:modified xsi:type="dcterms:W3CDTF">2025-11-18T00:58:19Z</dcterms:modified>
</cp:coreProperties>
</file>